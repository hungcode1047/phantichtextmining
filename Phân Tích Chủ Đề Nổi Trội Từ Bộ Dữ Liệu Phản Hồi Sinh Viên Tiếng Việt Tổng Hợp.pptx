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x="18288000" cy="10287000"/>
  <p:notesSz cx="6858000" cy="9144000"/>
  <p:embeddedFontLst>
    <p:embeddedFont>
      <p:font typeface="Playfair Display" charset="1" panose="00000500000000000000"/>
      <p:regular r:id="rId51"/>
    </p:embeddedFont>
    <p:embeddedFont>
      <p:font typeface="Inter Bold" charset="1" panose="020B0802030000000004"/>
      <p:regular r:id="rId52"/>
    </p:embeddedFont>
    <p:embeddedFont>
      <p:font typeface="Cabin" charset="1" panose="00000500000000000000"/>
      <p:regular r:id="rId53"/>
    </p:embeddedFont>
    <p:embeddedFont>
      <p:font typeface="Noto Serif Display" charset="1" panose="02020502080505020204"/>
      <p:regular r:id="rId54"/>
    </p:embeddedFont>
    <p:embeddedFont>
      <p:font typeface="Playfair Display Bold" charset="1" panose="00000800000000000000"/>
      <p:regular r:id="rId55"/>
    </p:embeddedFont>
    <p:embeddedFont>
      <p:font typeface="Cabin Bold" charset="1" panose="00000800000000000000"/>
      <p:regular r:id="rId5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54" Target="fonts/font54.fntdata" Type="http://schemas.openxmlformats.org/officeDocument/2006/relationships/font"/><Relationship Id="rId55" Target="fonts/font55.fntdata" Type="http://schemas.openxmlformats.org/officeDocument/2006/relationships/font"/><Relationship Id="rId56" Target="fonts/font56.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0" y="4811191"/>
            <a:ext cx="18288000" cy="1521868"/>
          </a:xfrm>
          <a:prstGeom prst="rect">
            <a:avLst/>
          </a:prstGeom>
        </p:spPr>
        <p:txBody>
          <a:bodyPr anchor="t" rtlCol="false" tIns="0" lIns="0" bIns="0" rIns="0">
            <a:spAutoFit/>
          </a:bodyPr>
          <a:lstStyle/>
          <a:p>
            <a:pPr algn="ctr">
              <a:lnSpc>
                <a:spcPts val="5916"/>
              </a:lnSpc>
              <a:spcBef>
                <a:spcPct val="0"/>
              </a:spcBef>
            </a:pPr>
            <a:r>
              <a:rPr lang="en-US" sz="5916" spc="29">
                <a:solidFill>
                  <a:srgbClr val="000000"/>
                </a:solidFill>
                <a:latin typeface="Playfair Display"/>
                <a:ea typeface="Playfair Display"/>
                <a:cs typeface="Playfair Display"/>
                <a:sym typeface="Playfair Display"/>
              </a:rPr>
              <a:t>PHÂN TÍCH</a:t>
            </a:r>
            <a:r>
              <a:rPr lang="en-US" sz="5916" spc="29">
                <a:solidFill>
                  <a:srgbClr val="000000"/>
                </a:solidFill>
                <a:latin typeface="Playfair Display"/>
                <a:ea typeface="Playfair Display"/>
                <a:cs typeface="Playfair Display"/>
                <a:sym typeface="Playfair Display"/>
              </a:rPr>
              <a:t> CHỦ ĐỀ NỔI TRỘI TỪ BỘ DỮ LIỆU PHẢN HỒI SINH VIÊN TIẾNG VIỆT TỔNG HỢP</a:t>
            </a:r>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126927" y="2880366"/>
            <a:ext cx="15782776" cy="4411968"/>
          </a:xfrm>
          <a:prstGeom prst="rect">
            <a:avLst/>
          </a:prstGeom>
        </p:spPr>
        <p:txBody>
          <a:bodyPr anchor="t" rtlCol="false" tIns="0" lIns="0" bIns="0" rIns="0">
            <a:spAutoFit/>
          </a:bodyPr>
          <a:lstStyle/>
          <a:p>
            <a:pPr algn="l">
              <a:lnSpc>
                <a:spcPts val="8820"/>
              </a:lnSpc>
            </a:pPr>
            <a:r>
              <a:rPr lang="en-US" sz="6300" b="true">
                <a:solidFill>
                  <a:srgbClr val="000000"/>
                </a:solidFill>
                <a:latin typeface="Inter Bold"/>
                <a:ea typeface="Inter Bold"/>
                <a:cs typeface="Inter Bold"/>
                <a:sym typeface="Inter Bold"/>
              </a:rPr>
              <a:t>HỌ TÊN SINH VIÊN : NGUYỄN HUY HÙNG</a:t>
            </a:r>
          </a:p>
          <a:p>
            <a:pPr algn="l">
              <a:lnSpc>
                <a:spcPts val="8820"/>
              </a:lnSpc>
            </a:pPr>
            <a:r>
              <a:rPr lang="en-US" sz="6300" b="true">
                <a:solidFill>
                  <a:srgbClr val="000000"/>
                </a:solidFill>
                <a:latin typeface="Inter Bold"/>
                <a:ea typeface="Inter Bold"/>
                <a:cs typeface="Inter Bold"/>
                <a:sym typeface="Inter Bold"/>
              </a:rPr>
              <a:t>MSSV : 2186400325</a:t>
            </a:r>
          </a:p>
          <a:p>
            <a:pPr algn="l">
              <a:lnSpc>
                <a:spcPts val="8820"/>
              </a:lnSpc>
            </a:pPr>
            <a:r>
              <a:rPr lang="en-US" sz="6300" b="true">
                <a:solidFill>
                  <a:srgbClr val="000000"/>
                </a:solidFill>
                <a:latin typeface="Inter Bold"/>
                <a:ea typeface="Inter Bold"/>
                <a:cs typeface="Inter Bold"/>
                <a:sym typeface="Inter Bold"/>
              </a:rPr>
              <a:t>LỚP : 21DKHA1</a:t>
            </a:r>
          </a:p>
          <a:p>
            <a:pPr algn="l">
              <a:lnSpc>
                <a:spcPts val="8820"/>
              </a:lnSpc>
            </a:pPr>
            <a:r>
              <a:rPr lang="en-US" sz="6300" b="true">
                <a:solidFill>
                  <a:srgbClr val="000000"/>
                </a:solidFill>
                <a:latin typeface="Inter Bold"/>
                <a:ea typeface="Inter Bold"/>
                <a:cs typeface="Inter Bold"/>
                <a:sym typeface="Inter Bold"/>
              </a:rPr>
              <a:t>CHUYÊN NGÀNH : KHOA HỌC DỮ LIỆU</a:t>
            </a:r>
          </a:p>
        </p:txBody>
      </p:sp>
    </p:spTree>
  </p:cSld>
  <p:clrMapOvr>
    <a:masterClrMapping/>
  </p:clrMapOvr>
</p:sld>
</file>

<file path=ppt/slides/slide3.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514350" y="1532993"/>
            <a:ext cx="17259300" cy="6659063"/>
          </a:xfrm>
          <a:prstGeom prst="rect">
            <a:avLst/>
          </a:prstGeom>
        </p:spPr>
        <p:txBody>
          <a:bodyPr anchor="t" rtlCol="false" tIns="0" lIns="0" bIns="0" rIns="0">
            <a:spAutoFit/>
          </a:bodyPr>
          <a:lstStyle/>
          <a:p>
            <a:pPr algn="l">
              <a:lnSpc>
                <a:spcPts val="4840"/>
              </a:lnSpc>
            </a:pPr>
            <a:r>
              <a:rPr lang="en-US" sz="2916" spc="14">
                <a:solidFill>
                  <a:srgbClr val="000000"/>
                </a:solidFill>
                <a:latin typeface="Cabin"/>
                <a:ea typeface="Cabin"/>
                <a:cs typeface="Cabin"/>
                <a:sym typeface="Cabin"/>
              </a:rPr>
              <a:t>GIỚI</a:t>
            </a:r>
            <a:r>
              <a:rPr lang="en-US" sz="2916" spc="14">
                <a:solidFill>
                  <a:srgbClr val="000000"/>
                </a:solidFill>
                <a:latin typeface="Cabin"/>
                <a:ea typeface="Cabin"/>
                <a:cs typeface="Cabin"/>
                <a:sym typeface="Cabin"/>
              </a:rPr>
              <a:t> THIỆU BÀI TOÁN</a:t>
            </a:r>
          </a:p>
          <a:p>
            <a:pPr algn="l">
              <a:lnSpc>
                <a:spcPts val="4840"/>
              </a:lnSpc>
            </a:pPr>
          </a:p>
          <a:p>
            <a:pPr algn="l">
              <a:lnSpc>
                <a:spcPts val="4840"/>
              </a:lnSpc>
            </a:pPr>
            <a:r>
              <a:rPr lang="en-US" sz="2916" spc="14">
                <a:solidFill>
                  <a:srgbClr val="000000"/>
                </a:solidFill>
                <a:latin typeface="Cabin"/>
                <a:ea typeface="Cabin"/>
                <a:cs typeface="Cabin"/>
                <a:sym typeface="Cabin"/>
              </a:rPr>
              <a:t>HIỆN NAY, VIỆC THU THẬP PHẢN HỒI TỪ SINH VIÊN SAU MỖI KỲ HỌC HAY HỌC PHẦN LÀ HOẠT ĐỘNG RẤT QUAN TRỌNG TRONG CÁC TRƯỜNG ĐẠI HỌC. NHỮNG PHẢN HỒI NÀY GIÚP NHÀ TRƯỜNG HIỂU RÕ HƠN VỀ TRẢI NGHIỆM HỌC TẬP CỦA SINH VIÊN ĐỂ TỪ ĐÓ ĐƯA RA CÁC THAY ĐỔI PHÙ HỢP TRONG CHƯƠNG TRÌNH GIẢNG DẠY, CẢI THIỆN CƠ SỞ VẬT CHẤT, CŨNG NHƯ NÂNG CAO CHẤT LƯỢNG GIẢNG DẠY. TUY NHIÊN, VÌ LƯỢNG PHẢN HỒI NGÀY CÀNG LỚN VÀ MANG TÍNH ĐA DẠNG VỀ NỘI DUNG NÊN RẤT KHÓ ĐỂ XỬ LÝ VÀ PHÂN TÍCH BẰNG TAY MỘT CÁCH THỦ CÔNG.</a:t>
            </a:r>
          </a:p>
          <a:p>
            <a:pPr algn="l">
              <a:lnSpc>
                <a:spcPts val="4840"/>
              </a:lnSpc>
            </a:pPr>
            <a:r>
              <a:rPr lang="en-US" sz="2916" spc="14">
                <a:solidFill>
                  <a:srgbClr val="000000"/>
                </a:solidFill>
                <a:latin typeface="Cabin"/>
                <a:ea typeface="Cabin"/>
                <a:cs typeface="Cabin"/>
                <a:sym typeface="Cabin"/>
              </a:rPr>
              <a:t>NHẬN THẤY TẦM QUAN TRỌNG CỦA VIỆC TỰ ĐỘNG HÓA QUÁ TRÌNH XỬ LÝ PHẢN HỒI, EM QUYẾT ĐỊNH CHỌN ĐỀ TÀI “PHÂN TÍCH CHỦ ĐỀ NỔI TRỘI TỪ BỘ DỮ LIỆU PHẢN HỒI SINH VIÊN TIẾNG VIỆT TỔNG HỢP”.</a:t>
            </a:r>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514350" y="904875"/>
            <a:ext cx="17259300" cy="9101167"/>
          </a:xfrm>
          <a:prstGeom prst="rect">
            <a:avLst/>
          </a:prstGeom>
        </p:spPr>
        <p:txBody>
          <a:bodyPr anchor="t" rtlCol="false" tIns="0" lIns="0" bIns="0" rIns="0">
            <a:spAutoFit/>
          </a:bodyPr>
          <a:lstStyle/>
          <a:p>
            <a:pPr algn="l">
              <a:lnSpc>
                <a:spcPts val="4811"/>
              </a:lnSpc>
            </a:pPr>
            <a:r>
              <a:rPr lang="en-US" sz="2916" spc="14">
                <a:solidFill>
                  <a:srgbClr val="000000"/>
                </a:solidFill>
                <a:latin typeface="Cabin"/>
                <a:ea typeface="Cabin"/>
                <a:cs typeface="Cabin"/>
                <a:sym typeface="Cabin"/>
              </a:rPr>
              <a:t>MỤC</a:t>
            </a:r>
            <a:r>
              <a:rPr lang="en-US" sz="2916" spc="14">
                <a:solidFill>
                  <a:srgbClr val="000000"/>
                </a:solidFill>
                <a:latin typeface="Cabin"/>
                <a:ea typeface="Cabin"/>
                <a:cs typeface="Cabin"/>
                <a:sym typeface="Cabin"/>
              </a:rPr>
              <a:t> TIÊU</a:t>
            </a:r>
          </a:p>
          <a:p>
            <a:pPr algn="l">
              <a:lnSpc>
                <a:spcPts val="4811"/>
              </a:lnSpc>
            </a:pPr>
          </a:p>
          <a:p>
            <a:pPr algn="l">
              <a:lnSpc>
                <a:spcPts val="4811"/>
              </a:lnSpc>
            </a:pPr>
            <a:r>
              <a:rPr lang="en-US" sz="2916" spc="14">
                <a:solidFill>
                  <a:srgbClr val="000000"/>
                </a:solidFill>
                <a:latin typeface="Cabin"/>
                <a:ea typeface="Cabin"/>
                <a:cs typeface="Cabin"/>
                <a:sym typeface="Cabin"/>
              </a:rPr>
              <a:t>MỤC TIÊU CHÍNH CỦA ĐỀ TÀI LÀ XÁC ĐỊNH VÀ PHÂN TÍCH CÁC CHỦ ĐỀ PHỔ BIẾN TRONG PHẢN HỒI CỦA SINH VIÊN THÔNG QUA MÔ HÌNH PHÂN TÍCH CHỦ ĐỀ LDA. NGOÀI RA, ĐỀ TÀI CÒN KẾT HỢP MÔ HÌNH NGÔN NGỮ PHOBERT TRONG BƯỚC XỬ LÝ VĂN BẢN ĐẦU VÀO ĐỂ CẢI THIỆN CHẤT LƯỢNG DỮ LIỆU VÀ ĐỘ CHÍNH XÁC TRONG KẾT QUẢ PHÂN TÍCH.</a:t>
            </a:r>
          </a:p>
          <a:p>
            <a:pPr algn="l">
              <a:lnSpc>
                <a:spcPts val="4811"/>
              </a:lnSpc>
            </a:pPr>
            <a:r>
              <a:rPr lang="en-US" sz="2916" spc="14">
                <a:solidFill>
                  <a:srgbClr val="000000"/>
                </a:solidFill>
                <a:latin typeface="Cabin"/>
                <a:ea typeface="Cabin"/>
                <a:cs typeface="Cabin"/>
                <a:sym typeface="Cabin"/>
              </a:rPr>
              <a:t>CÁC MỤC TIÊU CỤ THỂ GỒM CÓ:</a:t>
            </a:r>
          </a:p>
          <a:p>
            <a:pPr algn="l" marL="629598" indent="-314799" lvl="1">
              <a:lnSpc>
                <a:spcPts val="4811"/>
              </a:lnSpc>
              <a:buFont typeface="Arial"/>
              <a:buChar char="•"/>
            </a:pPr>
            <a:r>
              <a:rPr lang="en-US" sz="2916" spc="14">
                <a:solidFill>
                  <a:srgbClr val="000000"/>
                </a:solidFill>
                <a:latin typeface="Cabin"/>
                <a:ea typeface="Cabin"/>
                <a:cs typeface="Cabin"/>
                <a:sym typeface="Cabin"/>
              </a:rPr>
              <a:t>TÌM HIỂU VÀ LÀM QUEN VỚI BỘ DỮ LIỆU PHẢN HỒI SINH VIÊN TIẾNG VIỆT.</a:t>
            </a:r>
          </a:p>
          <a:p>
            <a:pPr algn="l" marL="629598" indent="-314799" lvl="1">
              <a:lnSpc>
                <a:spcPts val="4811"/>
              </a:lnSpc>
              <a:buFont typeface="Arial"/>
              <a:buChar char="•"/>
            </a:pPr>
            <a:r>
              <a:rPr lang="en-US" sz="2916" spc="14">
                <a:solidFill>
                  <a:srgbClr val="000000"/>
                </a:solidFill>
                <a:latin typeface="Cabin"/>
                <a:ea typeface="Cabin"/>
                <a:cs typeface="Cabin"/>
                <a:sym typeface="Cabin"/>
              </a:rPr>
              <a:t>TIỀN XỬ LÝ DỮ LIỆU PHẢN HỒI BẰNG CÁC KỸ THUẬT XỬ LÝ NGÔN NGỮ TỰ NHIÊN (NLP).</a:t>
            </a:r>
          </a:p>
          <a:p>
            <a:pPr algn="l" marL="629598" indent="-314799" lvl="1">
              <a:lnSpc>
                <a:spcPts val="4811"/>
              </a:lnSpc>
              <a:buFont typeface="Arial"/>
              <a:buChar char="•"/>
            </a:pPr>
            <a:r>
              <a:rPr lang="en-US" sz="2916" spc="14">
                <a:solidFill>
                  <a:srgbClr val="000000"/>
                </a:solidFill>
                <a:latin typeface="Cabin"/>
                <a:ea typeface="Cabin"/>
                <a:cs typeface="Cabin"/>
                <a:sym typeface="Cabin"/>
              </a:rPr>
              <a:t>ÁP DỤNG MÔ HÌNH LDA ĐỂ RÚT TRÍCH CÁC CHỦ ĐỀ TIỀM ẨN TRONG PHẢN HỒI.</a:t>
            </a:r>
          </a:p>
          <a:p>
            <a:pPr algn="l" marL="629598" indent="-314799" lvl="1">
              <a:lnSpc>
                <a:spcPts val="4811"/>
              </a:lnSpc>
              <a:buFont typeface="Arial"/>
              <a:buChar char="•"/>
            </a:pPr>
            <a:r>
              <a:rPr lang="en-US" sz="2916" spc="14">
                <a:solidFill>
                  <a:srgbClr val="000000"/>
                </a:solidFill>
                <a:latin typeface="Cabin"/>
                <a:ea typeface="Cabin"/>
                <a:cs typeface="Cabin"/>
                <a:sym typeface="Cabin"/>
              </a:rPr>
              <a:t>TRỰC QUAN HÓA DỮ LIỆU BẰNG BIỂU ĐỒ, WORD CLOUD ĐỂ DỄ DÀNG QUAN SÁT.</a:t>
            </a:r>
          </a:p>
          <a:p>
            <a:pPr algn="l" marL="629598" indent="-314799" lvl="1">
              <a:lnSpc>
                <a:spcPts val="4811"/>
              </a:lnSpc>
              <a:buFont typeface="Arial"/>
              <a:buChar char="•"/>
            </a:pPr>
            <a:r>
              <a:rPr lang="en-US" sz="2916" spc="14">
                <a:solidFill>
                  <a:srgbClr val="000000"/>
                </a:solidFill>
                <a:latin typeface="Cabin"/>
                <a:ea typeface="Cabin"/>
                <a:cs typeface="Cabin"/>
                <a:sym typeface="Cabin"/>
              </a:rPr>
              <a:t>ĐÁNH GIÁ HIỆU QUẢ MÔ HÌNH PHÂN TÍCH CHỦ ĐỀ, CÓ SỰ HỖ TRỢ CỦA PHOBERT TRONG TIỀN XỬ LÝ.</a:t>
            </a:r>
          </a:p>
          <a:p>
            <a:pPr algn="l">
              <a:lnSpc>
                <a:spcPts val="4811"/>
              </a:lnSpc>
            </a:pPr>
          </a:p>
          <a:p>
            <a:pPr algn="l">
              <a:lnSpc>
                <a:spcPts val="4811"/>
              </a:lnSpc>
            </a:pP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5087541" y="4811191"/>
            <a:ext cx="8112919" cy="778918"/>
          </a:xfrm>
          <a:prstGeom prst="rect">
            <a:avLst/>
          </a:prstGeom>
        </p:spPr>
        <p:txBody>
          <a:bodyPr anchor="t" rtlCol="false" tIns="0" lIns="0" bIns="0" rIns="0">
            <a:spAutoFit/>
          </a:bodyPr>
          <a:lstStyle/>
          <a:p>
            <a:pPr algn="ctr">
              <a:lnSpc>
                <a:spcPts val="5916"/>
              </a:lnSpc>
              <a:spcBef>
                <a:spcPct val="0"/>
              </a:spcBef>
            </a:pPr>
            <a:r>
              <a:rPr lang="en-US" sz="5916" spc="29">
                <a:solidFill>
                  <a:srgbClr val="000000"/>
                </a:solidFill>
                <a:latin typeface="Playfair Display"/>
                <a:ea typeface="Playfair Display"/>
                <a:cs typeface="Playfair Display"/>
                <a:sym typeface="Playfair Display"/>
              </a:rPr>
              <a:t>C</a:t>
            </a:r>
            <a:r>
              <a:rPr lang="en-US" sz="5916" spc="29">
                <a:solidFill>
                  <a:srgbClr val="000000"/>
                </a:solidFill>
                <a:latin typeface="Playfair Display"/>
                <a:ea typeface="Playfair Display"/>
                <a:cs typeface="Playfair Display"/>
                <a:sym typeface="Playfair Display"/>
              </a:rPr>
              <a:t>HƯƠNG I. GIỚI THIỆU</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854113" y="1630379"/>
            <a:ext cx="17259300" cy="6774813"/>
          </a:xfrm>
          <a:prstGeom prst="rect">
            <a:avLst/>
          </a:prstGeom>
        </p:spPr>
        <p:txBody>
          <a:bodyPr anchor="t" rtlCol="false" tIns="0" lIns="0" bIns="0" rIns="0">
            <a:spAutoFit/>
          </a:bodyPr>
          <a:lstStyle/>
          <a:p>
            <a:pPr algn="l">
              <a:lnSpc>
                <a:spcPts val="13780"/>
              </a:lnSpc>
            </a:pPr>
            <a:r>
              <a:rPr lang="en-US" sz="6500" spc="32">
                <a:solidFill>
                  <a:srgbClr val="000000"/>
                </a:solidFill>
                <a:latin typeface="Cabin"/>
                <a:ea typeface="Cabin"/>
                <a:cs typeface="Cabin"/>
                <a:sym typeface="Cabin"/>
              </a:rPr>
              <a:t>1</a:t>
            </a:r>
            <a:r>
              <a:rPr lang="en-US" sz="6500" spc="32">
                <a:solidFill>
                  <a:srgbClr val="000000"/>
                </a:solidFill>
                <a:latin typeface="Cabin"/>
                <a:ea typeface="Cabin"/>
                <a:cs typeface="Cabin"/>
                <a:sym typeface="Cabin"/>
              </a:rPr>
              <a:t>.1. LÝ DO CHỌN ĐỀ TÀI</a:t>
            </a:r>
          </a:p>
          <a:p>
            <a:pPr algn="l">
              <a:lnSpc>
                <a:spcPts val="13780"/>
              </a:lnSpc>
            </a:pPr>
            <a:r>
              <a:rPr lang="en-US" sz="6500" spc="32">
                <a:solidFill>
                  <a:srgbClr val="000000"/>
                </a:solidFill>
                <a:latin typeface="Cabin"/>
                <a:ea typeface="Cabin"/>
                <a:cs typeface="Cabin"/>
                <a:sym typeface="Cabin"/>
              </a:rPr>
              <a:t>1.2. MỤC TIÊU NGHIÊN CỨU</a:t>
            </a:r>
          </a:p>
          <a:p>
            <a:pPr algn="l">
              <a:lnSpc>
                <a:spcPts val="13780"/>
              </a:lnSpc>
            </a:pPr>
            <a:r>
              <a:rPr lang="en-US" sz="6500" spc="32">
                <a:solidFill>
                  <a:srgbClr val="000000"/>
                </a:solidFill>
                <a:latin typeface="Cabin"/>
                <a:ea typeface="Cabin"/>
                <a:cs typeface="Cabin"/>
                <a:sym typeface="Cabin"/>
              </a:rPr>
              <a:t>1.3. PHẠM VI NGHIÊN CỨU</a:t>
            </a:r>
          </a:p>
          <a:p>
            <a:pPr algn="l">
              <a:lnSpc>
                <a:spcPts val="13780"/>
              </a:lnSpc>
            </a:pP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3800103" y="4920308"/>
            <a:ext cx="10687794" cy="1521868"/>
          </a:xfrm>
          <a:prstGeom prst="rect">
            <a:avLst/>
          </a:prstGeom>
        </p:spPr>
        <p:txBody>
          <a:bodyPr anchor="t" rtlCol="false" tIns="0" lIns="0" bIns="0" rIns="0">
            <a:spAutoFit/>
          </a:bodyPr>
          <a:lstStyle/>
          <a:p>
            <a:pPr algn="ctr">
              <a:lnSpc>
                <a:spcPts val="5916"/>
              </a:lnSpc>
              <a:spcBef>
                <a:spcPct val="0"/>
              </a:spcBef>
            </a:pPr>
            <a:r>
              <a:rPr lang="en-US" sz="5916" spc="29">
                <a:solidFill>
                  <a:srgbClr val="000000"/>
                </a:solidFill>
                <a:latin typeface="Playfair Display"/>
                <a:ea typeface="Playfair Display"/>
                <a:cs typeface="Playfair Display"/>
                <a:sym typeface="Playfair Display"/>
              </a:rPr>
              <a:t>CHƯƠNG</a:t>
            </a:r>
            <a:r>
              <a:rPr lang="en-US" sz="5916" spc="29">
                <a:solidFill>
                  <a:srgbClr val="000000"/>
                </a:solidFill>
                <a:latin typeface="Playfair Display"/>
                <a:ea typeface="Playfair Display"/>
                <a:cs typeface="Playfair Display"/>
                <a:sym typeface="Playfair Display"/>
              </a:rPr>
              <a:t> II: CƠ SỞ LÝ THUYẾT</a:t>
            </a:r>
          </a:p>
          <a:p>
            <a:pPr algn="ctr">
              <a:lnSpc>
                <a:spcPts val="5916"/>
              </a:lnSpc>
              <a:spcBef>
                <a:spcPct val="0"/>
              </a:spcBef>
            </a:pP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28700" y="1353133"/>
            <a:ext cx="17259300" cy="7356216"/>
          </a:xfrm>
          <a:prstGeom prst="rect">
            <a:avLst/>
          </a:prstGeom>
        </p:spPr>
        <p:txBody>
          <a:bodyPr anchor="t" rtlCol="false" tIns="0" lIns="0" bIns="0" rIns="0">
            <a:spAutoFit/>
          </a:bodyPr>
          <a:lstStyle/>
          <a:p>
            <a:pPr algn="l">
              <a:lnSpc>
                <a:spcPts val="11872"/>
              </a:lnSpc>
            </a:pPr>
            <a:r>
              <a:rPr lang="en-US" sz="5600" spc="28">
                <a:solidFill>
                  <a:srgbClr val="000000"/>
                </a:solidFill>
                <a:latin typeface="Cabin"/>
                <a:ea typeface="Cabin"/>
                <a:cs typeface="Cabin"/>
                <a:sym typeface="Cabin"/>
              </a:rPr>
              <a:t>2</a:t>
            </a:r>
            <a:r>
              <a:rPr lang="en-US" sz="5600" spc="28">
                <a:solidFill>
                  <a:srgbClr val="000000"/>
                </a:solidFill>
                <a:latin typeface="Cabin"/>
                <a:ea typeface="Cabin"/>
                <a:cs typeface="Cabin"/>
                <a:sym typeface="Cabin"/>
              </a:rPr>
              <a:t>.1. PHÂN TÍCH CHỦ ĐỀ (TOPIC MODELING)</a:t>
            </a:r>
          </a:p>
          <a:p>
            <a:pPr algn="l">
              <a:lnSpc>
                <a:spcPts val="11872"/>
              </a:lnSpc>
            </a:pPr>
            <a:r>
              <a:rPr lang="en-US" sz="5600" spc="28">
                <a:solidFill>
                  <a:srgbClr val="000000"/>
                </a:solidFill>
                <a:latin typeface="Cabin"/>
                <a:ea typeface="Cabin"/>
                <a:cs typeface="Cabin"/>
                <a:sym typeface="Cabin"/>
              </a:rPr>
              <a:t>2</a:t>
            </a:r>
            <a:r>
              <a:rPr lang="en-US" sz="5600" spc="28">
                <a:solidFill>
                  <a:srgbClr val="000000"/>
                </a:solidFill>
                <a:latin typeface="Cabin"/>
                <a:ea typeface="Cabin"/>
                <a:cs typeface="Cabin"/>
                <a:sym typeface="Cabin"/>
              </a:rPr>
              <a:t>.2. MÔ HÌNH LDA</a:t>
            </a:r>
          </a:p>
          <a:p>
            <a:pPr algn="l">
              <a:lnSpc>
                <a:spcPts val="11872"/>
              </a:lnSpc>
            </a:pPr>
            <a:r>
              <a:rPr lang="en-US" sz="5600" spc="28">
                <a:solidFill>
                  <a:srgbClr val="000000"/>
                </a:solidFill>
                <a:latin typeface="Cabin"/>
                <a:ea typeface="Cabin"/>
                <a:cs typeface="Cabin"/>
                <a:sym typeface="Cabin"/>
              </a:rPr>
              <a:t>2.3. MÔ HÌNH PHOBERT VÀ ỨNG DỤNG TRONG XỬ LÝ VĂN BẢN TIẾNG VIỆT</a:t>
            </a:r>
          </a:p>
          <a:p>
            <a:pPr algn="l">
              <a:lnSpc>
                <a:spcPts val="11872"/>
              </a:lnSpc>
            </a:pP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Freeform 2" id="2"/>
          <p:cNvSpPr/>
          <p:nvPr/>
        </p:nvSpPr>
        <p:spPr>
          <a:xfrm flipH="false" flipV="false" rot="0">
            <a:off x="4173587" y="3651228"/>
            <a:ext cx="9940827" cy="2984544"/>
          </a:xfrm>
          <a:custGeom>
            <a:avLst/>
            <a:gdLst/>
            <a:ahLst/>
            <a:cxnLst/>
            <a:rect r="r" b="b" t="t" l="l"/>
            <a:pathLst>
              <a:path h="2984544" w="9940827">
                <a:moveTo>
                  <a:pt x="0" y="0"/>
                </a:moveTo>
                <a:lnTo>
                  <a:pt x="9940826" y="0"/>
                </a:lnTo>
                <a:lnTo>
                  <a:pt x="9940826" y="2984544"/>
                </a:lnTo>
                <a:lnTo>
                  <a:pt x="0" y="2984544"/>
                </a:lnTo>
                <a:lnTo>
                  <a:pt x="0" y="0"/>
                </a:lnTo>
                <a:close/>
              </a:path>
            </a:pathLst>
          </a:custGeom>
          <a:blipFill>
            <a:blip r:embed="rId2"/>
            <a:stretch>
              <a:fillRect l="0" t="0" r="0" b="0"/>
            </a:stretch>
          </a:blipFill>
        </p:spPr>
      </p:sp>
      <p:sp>
        <p:nvSpPr>
          <p:cNvPr name="TextBox 3" id="3"/>
          <p:cNvSpPr txBox="true"/>
          <p:nvPr/>
        </p:nvSpPr>
        <p:spPr>
          <a:xfrm rot="0">
            <a:off x="6651054" y="1799563"/>
            <a:ext cx="4985891" cy="778918"/>
          </a:xfrm>
          <a:prstGeom prst="rect">
            <a:avLst/>
          </a:prstGeom>
        </p:spPr>
        <p:txBody>
          <a:bodyPr anchor="t" rtlCol="false" tIns="0" lIns="0" bIns="0" rIns="0">
            <a:spAutoFit/>
          </a:bodyPr>
          <a:lstStyle/>
          <a:p>
            <a:pPr algn="ctr">
              <a:lnSpc>
                <a:spcPts val="5916"/>
              </a:lnSpc>
              <a:spcBef>
                <a:spcPct val="0"/>
              </a:spcBef>
            </a:pPr>
            <a:r>
              <a:rPr lang="en-US" sz="5916" spc="29">
                <a:solidFill>
                  <a:srgbClr val="000000"/>
                </a:solidFill>
                <a:latin typeface="Playfair Display"/>
                <a:ea typeface="Playfair Display"/>
                <a:cs typeface="Playfair Display"/>
                <a:sym typeface="Playfair Display"/>
              </a:rPr>
              <a:t>MÔ HÌNH</a:t>
            </a:r>
            <a:r>
              <a:rPr lang="en-US" sz="5916" spc="29">
                <a:solidFill>
                  <a:srgbClr val="000000"/>
                </a:solidFill>
                <a:latin typeface="Playfair Display"/>
                <a:ea typeface="Playfair Display"/>
                <a:cs typeface="Playfair Display"/>
                <a:sym typeface="Playfair Display"/>
              </a:rPr>
              <a:t> LDA</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Freeform 2" id="2"/>
          <p:cNvSpPr/>
          <p:nvPr/>
        </p:nvSpPr>
        <p:spPr>
          <a:xfrm flipH="false" flipV="false" rot="0">
            <a:off x="4237462" y="2775245"/>
            <a:ext cx="9813076" cy="4736509"/>
          </a:xfrm>
          <a:custGeom>
            <a:avLst/>
            <a:gdLst/>
            <a:ahLst/>
            <a:cxnLst/>
            <a:rect r="r" b="b" t="t" l="l"/>
            <a:pathLst>
              <a:path h="4736509" w="9813076">
                <a:moveTo>
                  <a:pt x="0" y="0"/>
                </a:moveTo>
                <a:lnTo>
                  <a:pt x="9813076" y="0"/>
                </a:lnTo>
                <a:lnTo>
                  <a:pt x="9813076" y="4736510"/>
                </a:lnTo>
                <a:lnTo>
                  <a:pt x="0" y="4736510"/>
                </a:lnTo>
                <a:lnTo>
                  <a:pt x="0" y="0"/>
                </a:lnTo>
                <a:close/>
              </a:path>
            </a:pathLst>
          </a:custGeom>
          <a:blipFill>
            <a:blip r:embed="rId2"/>
            <a:stretch>
              <a:fillRect l="0" t="0" r="0" b="0"/>
            </a:stretch>
          </a:blipFill>
        </p:spPr>
      </p:sp>
      <p:sp>
        <p:nvSpPr>
          <p:cNvPr name="TextBox 3" id="3"/>
          <p:cNvSpPr txBox="true"/>
          <p:nvPr/>
        </p:nvSpPr>
        <p:spPr>
          <a:xfrm rot="0">
            <a:off x="5654055" y="1297625"/>
            <a:ext cx="6979890" cy="778918"/>
          </a:xfrm>
          <a:prstGeom prst="rect">
            <a:avLst/>
          </a:prstGeom>
        </p:spPr>
        <p:txBody>
          <a:bodyPr anchor="t" rtlCol="false" tIns="0" lIns="0" bIns="0" rIns="0">
            <a:spAutoFit/>
          </a:bodyPr>
          <a:lstStyle/>
          <a:p>
            <a:pPr algn="ctr">
              <a:lnSpc>
                <a:spcPts val="5916"/>
              </a:lnSpc>
              <a:spcBef>
                <a:spcPct val="0"/>
              </a:spcBef>
            </a:pPr>
            <a:r>
              <a:rPr lang="en-US" sz="5916" spc="29">
                <a:solidFill>
                  <a:srgbClr val="000000"/>
                </a:solidFill>
                <a:latin typeface="Playfair Display"/>
                <a:ea typeface="Playfair Display"/>
                <a:cs typeface="Playfair Display"/>
                <a:sym typeface="Playfair Display"/>
              </a:rPr>
              <a:t>MÔ HÌNH</a:t>
            </a:r>
            <a:r>
              <a:rPr lang="en-US" sz="5916" spc="29">
                <a:solidFill>
                  <a:srgbClr val="000000"/>
                </a:solidFill>
                <a:latin typeface="Playfair Display"/>
                <a:ea typeface="Playfair Display"/>
                <a:cs typeface="Playfair Display"/>
                <a:sym typeface="Playfair Display"/>
              </a:rPr>
              <a:t> PHOBERT</a:t>
            </a:r>
          </a:p>
        </p:txBody>
      </p:sp>
      <p:sp>
        <p:nvSpPr>
          <p:cNvPr name="TextBox 4" id="4"/>
          <p:cNvSpPr txBox="true"/>
          <p:nvPr/>
        </p:nvSpPr>
        <p:spPr>
          <a:xfrm rot="0">
            <a:off x="2834506" y="8289886"/>
            <a:ext cx="12618988" cy="580390"/>
          </a:xfrm>
          <a:prstGeom prst="rect">
            <a:avLst/>
          </a:prstGeom>
        </p:spPr>
        <p:txBody>
          <a:bodyPr anchor="t" rtlCol="false" tIns="0" lIns="0" bIns="0" rIns="0">
            <a:spAutoFit/>
          </a:bodyPr>
          <a:lstStyle/>
          <a:p>
            <a:pPr algn="ctr">
              <a:lnSpc>
                <a:spcPts val="4759"/>
              </a:lnSpc>
            </a:pPr>
            <a:r>
              <a:rPr lang="en-US" sz="3399">
                <a:solidFill>
                  <a:srgbClr val="000000"/>
                </a:solidFill>
                <a:latin typeface="Noto Serif Display"/>
                <a:ea typeface="Noto Serif Display"/>
                <a:cs typeface="Noto Serif Display"/>
                <a:sym typeface="Noto Serif Display"/>
              </a:rPr>
              <a:t>Ngoài ra em còn sử dụng VNCORENLP để hỗ trợ cho PHOBERT</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6915894" y="4811191"/>
            <a:ext cx="4456212" cy="1521868"/>
          </a:xfrm>
          <a:prstGeom prst="rect">
            <a:avLst/>
          </a:prstGeom>
        </p:spPr>
        <p:txBody>
          <a:bodyPr anchor="t" rtlCol="false" tIns="0" lIns="0" bIns="0" rIns="0">
            <a:spAutoFit/>
          </a:bodyPr>
          <a:lstStyle/>
          <a:p>
            <a:pPr algn="ctr">
              <a:lnSpc>
                <a:spcPts val="5916"/>
              </a:lnSpc>
              <a:spcBef>
                <a:spcPct val="0"/>
              </a:spcBef>
            </a:pPr>
            <a:r>
              <a:rPr lang="en-US" sz="5916" spc="29">
                <a:solidFill>
                  <a:srgbClr val="000000"/>
                </a:solidFill>
                <a:latin typeface="Playfair Display"/>
                <a:ea typeface="Playfair Display"/>
                <a:cs typeface="Playfair Display"/>
                <a:sym typeface="Playfair Display"/>
              </a:rPr>
              <a:t>VNCORENL</a:t>
            </a:r>
            <a:r>
              <a:rPr lang="en-US" sz="5916" spc="29">
                <a:solidFill>
                  <a:srgbClr val="000000"/>
                </a:solidFill>
                <a:latin typeface="Playfair Display"/>
                <a:ea typeface="Playfair Display"/>
                <a:cs typeface="Playfair Display"/>
                <a:sym typeface="Playfair Display"/>
              </a:rPr>
              <a:t>P</a:t>
            </a:r>
          </a:p>
          <a:p>
            <a:pPr algn="ctr">
              <a:lnSpc>
                <a:spcPts val="5916"/>
              </a:lnSpc>
              <a:spcBef>
                <a:spcPct val="0"/>
              </a:spcBef>
            </a:pP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514350" y="1511420"/>
            <a:ext cx="17259300" cy="8775580"/>
          </a:xfrm>
          <a:prstGeom prst="rect">
            <a:avLst/>
          </a:prstGeom>
        </p:spPr>
        <p:txBody>
          <a:bodyPr anchor="t" rtlCol="false" tIns="0" lIns="0" bIns="0" rIns="0">
            <a:spAutoFit/>
          </a:bodyPr>
          <a:lstStyle/>
          <a:p>
            <a:pPr algn="l">
              <a:lnSpc>
                <a:spcPts val="7015"/>
              </a:lnSpc>
            </a:pPr>
            <a:r>
              <a:rPr lang="en-US" sz="3616" spc="18">
                <a:solidFill>
                  <a:srgbClr val="000000"/>
                </a:solidFill>
                <a:latin typeface="Cabin"/>
                <a:ea typeface="Cabin"/>
                <a:cs typeface="Cabin"/>
                <a:sym typeface="Cabin"/>
              </a:rPr>
              <a:t>VNCORENLP: BỘ CÔNG</a:t>
            </a:r>
            <a:r>
              <a:rPr lang="en-US" sz="3616" spc="18">
                <a:solidFill>
                  <a:srgbClr val="000000"/>
                </a:solidFill>
                <a:latin typeface="Cabin"/>
                <a:ea typeface="Cabin"/>
                <a:cs typeface="Cabin"/>
                <a:sym typeface="Cabin"/>
              </a:rPr>
              <a:t> CỤ XỬ LÝ NGÔN NGỮ TỰ NHIÊN CHO TIẾNG VIỆT</a:t>
            </a:r>
          </a:p>
          <a:p>
            <a:pPr algn="l">
              <a:lnSpc>
                <a:spcPts val="7015"/>
              </a:lnSpc>
            </a:pPr>
          </a:p>
          <a:p>
            <a:pPr algn="l">
              <a:lnSpc>
                <a:spcPts val="7015"/>
              </a:lnSpc>
            </a:pPr>
            <a:r>
              <a:rPr lang="en-US" sz="3616" spc="18">
                <a:solidFill>
                  <a:srgbClr val="000000"/>
                </a:solidFill>
                <a:latin typeface="Cabin"/>
                <a:ea typeface="Cabin"/>
                <a:cs typeface="Cabin"/>
                <a:sym typeface="Cabin"/>
              </a:rPr>
              <a:t>VNCORENLP LÀ MỘT BỘ CÔNG CỤ XỬ LÝ NGÔN NGỮ TỰ NHIÊN (NLP) NHANH VÀ CHÍNH XÁC DÀNH CHO TIẾNG VIỆT, CUNG CẤP CÁC CHÚ THÍCH NGÔN NGỮ PHONG PHÚ THÔNG QUA CÁC THÀNH PHẦN NLP CHÍNH NHƯ PHÂN ĐOẠN TỪ, GÁN NHÃN TỪ LOẠI (POS TAGGING), NHẬN DIỆN THỰC THỂ CÓ TÊN (NER) VÀ PHÂN TÍCH CÚ PHÁP PHỤ THUỘC. NGƯỜI DÙNG KHÔNG CẦN CÀI ĐẶT CÁC THƯ VIỆN PHỤ THUỘC BÊN NGOÀI. MÀ CÓ THỂ CHẠY CÁC QUY TRÌNH XỬ LÝ THÔNG QUA DÒNG LỆNH HOẶC API.</a:t>
            </a:r>
          </a:p>
          <a:p>
            <a:pPr algn="l">
              <a:lnSpc>
                <a:spcPts val="7015"/>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Freeform 2" id="2"/>
          <p:cNvSpPr/>
          <p:nvPr/>
        </p:nvSpPr>
        <p:spPr>
          <a:xfrm flipH="false" flipV="false" rot="0">
            <a:off x="3053797" y="2061381"/>
            <a:ext cx="12180407" cy="7414161"/>
          </a:xfrm>
          <a:custGeom>
            <a:avLst/>
            <a:gdLst/>
            <a:ahLst/>
            <a:cxnLst/>
            <a:rect r="r" b="b" t="t" l="l"/>
            <a:pathLst>
              <a:path h="7414161" w="12180407">
                <a:moveTo>
                  <a:pt x="0" y="0"/>
                </a:moveTo>
                <a:lnTo>
                  <a:pt x="12180406" y="0"/>
                </a:lnTo>
                <a:lnTo>
                  <a:pt x="12180406" y="7414161"/>
                </a:lnTo>
                <a:lnTo>
                  <a:pt x="0" y="7414161"/>
                </a:lnTo>
                <a:lnTo>
                  <a:pt x="0" y="0"/>
                </a:lnTo>
                <a:close/>
              </a:path>
            </a:pathLst>
          </a:custGeom>
          <a:blipFill>
            <a:blip r:embed="rId2"/>
            <a:stretch>
              <a:fillRect l="0" t="0" r="0" b="0"/>
            </a:stretch>
          </a:blipFill>
        </p:spPr>
      </p:sp>
      <p:sp>
        <p:nvSpPr>
          <p:cNvPr name="TextBox 3" id="3"/>
          <p:cNvSpPr txBox="true"/>
          <p:nvPr/>
        </p:nvSpPr>
        <p:spPr>
          <a:xfrm rot="0">
            <a:off x="2448818" y="159703"/>
            <a:ext cx="13390364" cy="1566544"/>
          </a:xfrm>
          <a:prstGeom prst="rect">
            <a:avLst/>
          </a:prstGeom>
        </p:spPr>
        <p:txBody>
          <a:bodyPr anchor="t" rtlCol="false" tIns="0" lIns="0" bIns="0" rIns="0">
            <a:spAutoFit/>
          </a:bodyPr>
          <a:lstStyle/>
          <a:p>
            <a:pPr algn="ctr">
              <a:lnSpc>
                <a:spcPts val="12880"/>
              </a:lnSpc>
            </a:pPr>
            <a:r>
              <a:rPr lang="en-US" sz="9200" b="true">
                <a:solidFill>
                  <a:srgbClr val="000000"/>
                </a:solidFill>
                <a:latin typeface="Playfair Display Bold"/>
                <a:ea typeface="Playfair Display Bold"/>
                <a:cs typeface="Playfair Display Bold"/>
                <a:sym typeface="Playfair Display Bold"/>
              </a:rPr>
              <a:t>CHẠY THỬ VNCORENLP</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819945" y="4811191"/>
            <a:ext cx="14648111" cy="778918"/>
          </a:xfrm>
          <a:prstGeom prst="rect">
            <a:avLst/>
          </a:prstGeom>
        </p:spPr>
        <p:txBody>
          <a:bodyPr anchor="t" rtlCol="false" tIns="0" lIns="0" bIns="0" rIns="0">
            <a:spAutoFit/>
          </a:bodyPr>
          <a:lstStyle/>
          <a:p>
            <a:pPr algn="ctr">
              <a:lnSpc>
                <a:spcPts val="5916"/>
              </a:lnSpc>
              <a:spcBef>
                <a:spcPct val="0"/>
              </a:spcBef>
            </a:pPr>
            <a:r>
              <a:rPr lang="en-US" sz="5916" spc="29">
                <a:solidFill>
                  <a:srgbClr val="000000"/>
                </a:solidFill>
                <a:latin typeface="Playfair Display"/>
                <a:ea typeface="Playfair Display"/>
                <a:cs typeface="Playfair Display"/>
                <a:sym typeface="Playfair Display"/>
              </a:rPr>
              <a:t>C</a:t>
            </a:r>
            <a:r>
              <a:rPr lang="en-US" sz="5916" spc="29">
                <a:solidFill>
                  <a:srgbClr val="000000"/>
                </a:solidFill>
                <a:latin typeface="Playfair Display"/>
                <a:ea typeface="Playfair Display"/>
                <a:cs typeface="Playfair Display"/>
                <a:sym typeface="Playfair Display"/>
              </a:rPr>
              <a:t>HƯƠNG III: PHƯƠNG PHÁP NGHIÊN CỨU</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854113" y="542925"/>
            <a:ext cx="17259300" cy="8861166"/>
          </a:xfrm>
          <a:prstGeom prst="rect">
            <a:avLst/>
          </a:prstGeom>
        </p:spPr>
        <p:txBody>
          <a:bodyPr anchor="t" rtlCol="false" tIns="0" lIns="0" bIns="0" rIns="0">
            <a:spAutoFit/>
          </a:bodyPr>
          <a:lstStyle/>
          <a:p>
            <a:pPr algn="l">
              <a:lnSpc>
                <a:spcPts val="11872"/>
              </a:lnSpc>
            </a:pPr>
            <a:r>
              <a:rPr lang="en-US" sz="5600" spc="28">
                <a:solidFill>
                  <a:srgbClr val="000000"/>
                </a:solidFill>
                <a:latin typeface="Cabin"/>
                <a:ea typeface="Cabin"/>
                <a:cs typeface="Cabin"/>
                <a:sym typeface="Cabin"/>
              </a:rPr>
              <a:t>3</a:t>
            </a:r>
            <a:r>
              <a:rPr lang="en-US" sz="5600" spc="28">
                <a:solidFill>
                  <a:srgbClr val="000000"/>
                </a:solidFill>
                <a:latin typeface="Cabin"/>
                <a:ea typeface="Cabin"/>
                <a:cs typeface="Cabin"/>
                <a:sym typeface="Cabin"/>
              </a:rPr>
              <a:t>.1. BỘ DỮ LIỆU PHẢN HỒI SINH VIÊN TIẾNG VIỆT TỔNG HỢP</a:t>
            </a:r>
          </a:p>
          <a:p>
            <a:pPr algn="l">
              <a:lnSpc>
                <a:spcPts val="11872"/>
              </a:lnSpc>
            </a:pPr>
            <a:r>
              <a:rPr lang="en-US" sz="5600" spc="28">
                <a:solidFill>
                  <a:srgbClr val="000000"/>
                </a:solidFill>
                <a:latin typeface="Cabin"/>
                <a:ea typeface="Cabin"/>
                <a:cs typeface="Cabin"/>
                <a:sym typeface="Cabin"/>
              </a:rPr>
              <a:t> 3</a:t>
            </a:r>
            <a:r>
              <a:rPr lang="en-US" sz="5600" spc="28">
                <a:solidFill>
                  <a:srgbClr val="000000"/>
                </a:solidFill>
                <a:latin typeface="Cabin"/>
                <a:ea typeface="Cabin"/>
                <a:cs typeface="Cabin"/>
                <a:sym typeface="Cabin"/>
              </a:rPr>
              <a:t>.2. TIỀN XỬ LÝ VÀ VECTOR HÓA VĂN BẢN</a:t>
            </a:r>
          </a:p>
          <a:p>
            <a:pPr algn="l">
              <a:lnSpc>
                <a:spcPts val="11872"/>
              </a:lnSpc>
            </a:pPr>
            <a:r>
              <a:rPr lang="en-US" sz="5600" spc="28">
                <a:solidFill>
                  <a:srgbClr val="000000"/>
                </a:solidFill>
                <a:latin typeface="Cabin"/>
                <a:ea typeface="Cabin"/>
                <a:cs typeface="Cabin"/>
                <a:sym typeface="Cabin"/>
              </a:rPr>
              <a:t> 3</a:t>
            </a:r>
            <a:r>
              <a:rPr lang="en-US" sz="5600" spc="28">
                <a:solidFill>
                  <a:srgbClr val="000000"/>
                </a:solidFill>
                <a:latin typeface="Cabin"/>
                <a:ea typeface="Cabin"/>
                <a:cs typeface="Cabin"/>
                <a:sym typeface="Cabin"/>
              </a:rPr>
              <a:t>.3. XÂY DỰNG MÔ HÌNH LDA ĐỂ PHÂN TÍCH CHỦ ĐỀ</a:t>
            </a:r>
          </a:p>
          <a:p>
            <a:pPr algn="l">
              <a:lnSpc>
                <a:spcPts val="11872"/>
              </a:lnSpc>
            </a:pPr>
            <a:r>
              <a:rPr lang="en-US" sz="5600" spc="28">
                <a:solidFill>
                  <a:srgbClr val="000000"/>
                </a:solidFill>
                <a:latin typeface="Cabin"/>
                <a:ea typeface="Cabin"/>
                <a:cs typeface="Cabin"/>
                <a:sym typeface="Cabin"/>
              </a:rPr>
              <a:t> 3.4. TRỰC QUAN HÓA DỮ LIỆU VỚI WORD CLOUD VÀ BIỂU ĐỒ</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0" y="4811191"/>
            <a:ext cx="18288000" cy="3007768"/>
          </a:xfrm>
          <a:prstGeom prst="rect">
            <a:avLst/>
          </a:prstGeom>
        </p:spPr>
        <p:txBody>
          <a:bodyPr anchor="t" rtlCol="false" tIns="0" lIns="0" bIns="0" rIns="0">
            <a:spAutoFit/>
          </a:bodyPr>
          <a:lstStyle/>
          <a:p>
            <a:pPr algn="ctr">
              <a:lnSpc>
                <a:spcPts val="5916"/>
              </a:lnSpc>
            </a:pPr>
            <a:r>
              <a:rPr lang="en-US" sz="5916" spc="29">
                <a:solidFill>
                  <a:srgbClr val="000000"/>
                </a:solidFill>
                <a:latin typeface="Playfair Display"/>
                <a:ea typeface="Playfair Display"/>
                <a:cs typeface="Playfair Display"/>
                <a:sym typeface="Playfair Display"/>
              </a:rPr>
              <a:t>3.1 BỘ DỮ LIỆU PHẢN HỒI SINH VIÊN TIẾNG VIỆT TỔNG HỢP</a:t>
            </a:r>
          </a:p>
          <a:p>
            <a:pPr algn="ctr">
              <a:lnSpc>
                <a:spcPts val="5916"/>
              </a:lnSpc>
            </a:pPr>
          </a:p>
          <a:p>
            <a:pPr algn="ctr">
              <a:lnSpc>
                <a:spcPts val="5916"/>
              </a:lnSpc>
              <a:spcBef>
                <a:spcPct val="0"/>
              </a:spcBef>
            </a:pP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514350" y="2713807"/>
            <a:ext cx="17259300" cy="5232280"/>
          </a:xfrm>
          <a:prstGeom prst="rect">
            <a:avLst/>
          </a:prstGeom>
        </p:spPr>
        <p:txBody>
          <a:bodyPr anchor="t" rtlCol="false" tIns="0" lIns="0" bIns="0" rIns="0">
            <a:spAutoFit/>
          </a:bodyPr>
          <a:lstStyle/>
          <a:p>
            <a:pPr algn="l">
              <a:lnSpc>
                <a:spcPts val="7015"/>
              </a:lnSpc>
            </a:pPr>
            <a:r>
              <a:rPr lang="en-US" sz="3616" spc="18">
                <a:solidFill>
                  <a:srgbClr val="000000"/>
                </a:solidFill>
                <a:latin typeface="Cabin"/>
                <a:ea typeface="Cabin"/>
                <a:cs typeface="Cabin"/>
                <a:sym typeface="Cabin"/>
              </a:rPr>
              <a:t>ĐỂ</a:t>
            </a:r>
            <a:r>
              <a:rPr lang="en-US" sz="3616" spc="18">
                <a:solidFill>
                  <a:srgbClr val="000000"/>
                </a:solidFill>
                <a:latin typeface="Cabin"/>
                <a:ea typeface="Cabin"/>
                <a:cs typeface="Cabin"/>
                <a:sym typeface="Cabin"/>
              </a:rPr>
              <a:t> THỰC HIỆN NGHIÊN CỨU NÀY, EM SỬ DỤNG BỘ DỮ LIỆU PHẢN HỒI SINH VIÊN TIẾNG VIỆT TỔNG HỢP. BỘ DỮ LIỆU NÀY CHỨA HƠN 10.000 CÂU PHẢN HỒI CỦA SINH VIÊN TỪ CÁC TRƯỜNG ĐẠI HỌC, ĐƯỢC PHÂN LOẠI THÀNH CÁC CHỦ ĐỀ NHƯ GIẢNG VIÊN, CHƯƠNG TRÌNH HỌC, CƠ SỞ VẬT CHẤT, V.V. DỮ LIỆU NÀY ĐƯỢC TẠO RA THÔNG QUA API CỦA CHATGPT, GIÚP ĐẢM BẢO TÍNH CHẤT LƯỢNG VÀ TÍNH ĐẠI DIỆN CHO CÁC PHẢN HỒI SINH VIÊN.</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6671295" y="4811191"/>
            <a:ext cx="4945410" cy="778918"/>
          </a:xfrm>
          <a:prstGeom prst="rect">
            <a:avLst/>
          </a:prstGeom>
        </p:spPr>
        <p:txBody>
          <a:bodyPr anchor="t" rtlCol="false" tIns="0" lIns="0" bIns="0" rIns="0">
            <a:spAutoFit/>
          </a:bodyPr>
          <a:lstStyle/>
          <a:p>
            <a:pPr algn="ctr">
              <a:lnSpc>
                <a:spcPts val="5916"/>
              </a:lnSpc>
              <a:spcBef>
                <a:spcPct val="0"/>
              </a:spcBef>
            </a:pPr>
            <a:r>
              <a:rPr lang="en-US" sz="5916" spc="29">
                <a:solidFill>
                  <a:srgbClr val="000000"/>
                </a:solidFill>
                <a:latin typeface="Playfair Display"/>
                <a:ea typeface="Playfair Display"/>
                <a:cs typeface="Playfair Display"/>
                <a:sym typeface="Playfair Display"/>
              </a:rPr>
              <a:t> ĐỌC DỮ LIỆU</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Freeform 2" id="2"/>
          <p:cNvSpPr/>
          <p:nvPr/>
        </p:nvSpPr>
        <p:spPr>
          <a:xfrm flipH="false" flipV="false" rot="0">
            <a:off x="4976139" y="0"/>
            <a:ext cx="8335722" cy="10287000"/>
          </a:xfrm>
          <a:custGeom>
            <a:avLst/>
            <a:gdLst/>
            <a:ahLst/>
            <a:cxnLst/>
            <a:rect r="r" b="b" t="t" l="l"/>
            <a:pathLst>
              <a:path h="10287000" w="8335722">
                <a:moveTo>
                  <a:pt x="0" y="0"/>
                </a:moveTo>
                <a:lnTo>
                  <a:pt x="8335722" y="0"/>
                </a:lnTo>
                <a:lnTo>
                  <a:pt x="8335722" y="10287000"/>
                </a:lnTo>
                <a:lnTo>
                  <a:pt x="0" y="10287000"/>
                </a:lnTo>
                <a:lnTo>
                  <a:pt x="0" y="0"/>
                </a:lnTo>
                <a:close/>
              </a:path>
            </a:pathLst>
          </a:custGeom>
          <a:blipFill>
            <a:blip r:embed="rId2"/>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2610371" y="4811191"/>
            <a:ext cx="13067258" cy="778918"/>
          </a:xfrm>
          <a:prstGeom prst="rect">
            <a:avLst/>
          </a:prstGeom>
        </p:spPr>
        <p:txBody>
          <a:bodyPr anchor="t" rtlCol="false" tIns="0" lIns="0" bIns="0" rIns="0">
            <a:spAutoFit/>
          </a:bodyPr>
          <a:lstStyle/>
          <a:p>
            <a:pPr algn="ctr">
              <a:lnSpc>
                <a:spcPts val="5916"/>
              </a:lnSpc>
              <a:spcBef>
                <a:spcPct val="0"/>
              </a:spcBef>
            </a:pPr>
            <a:r>
              <a:rPr lang="en-US" sz="5916" spc="29">
                <a:solidFill>
                  <a:srgbClr val="000000"/>
                </a:solidFill>
                <a:latin typeface="Playfair Display"/>
                <a:ea typeface="Playfair Display"/>
                <a:cs typeface="Playfair Display"/>
                <a:sym typeface="Playfair Display"/>
              </a:rPr>
              <a:t>TIỀN XỬ LÝ VÀ CHUYỂN ĐỔI DỮ LIỆU</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Freeform 2" id="2"/>
          <p:cNvSpPr/>
          <p:nvPr/>
        </p:nvSpPr>
        <p:spPr>
          <a:xfrm flipH="false" flipV="false" rot="0">
            <a:off x="2601488" y="1028700"/>
            <a:ext cx="12689392" cy="8835382"/>
          </a:xfrm>
          <a:custGeom>
            <a:avLst/>
            <a:gdLst/>
            <a:ahLst/>
            <a:cxnLst/>
            <a:rect r="r" b="b" t="t" l="l"/>
            <a:pathLst>
              <a:path h="8835382" w="12689392">
                <a:moveTo>
                  <a:pt x="0" y="0"/>
                </a:moveTo>
                <a:lnTo>
                  <a:pt x="12689392" y="0"/>
                </a:lnTo>
                <a:lnTo>
                  <a:pt x="12689392" y="8835382"/>
                </a:lnTo>
                <a:lnTo>
                  <a:pt x="0" y="8835382"/>
                </a:lnTo>
                <a:lnTo>
                  <a:pt x="0" y="0"/>
                </a:lnTo>
                <a:close/>
              </a:path>
            </a:pathLst>
          </a:custGeom>
          <a:blipFill>
            <a:blip r:embed="rId2"/>
            <a:stretch>
              <a:fillRect l="0" t="0" r="0" b="0"/>
            </a:stretch>
          </a:blipFill>
        </p:spPr>
      </p:sp>
      <p:sp>
        <p:nvSpPr>
          <p:cNvPr name="TextBox 3" id="3"/>
          <p:cNvSpPr txBox="true"/>
          <p:nvPr/>
        </p:nvSpPr>
        <p:spPr>
          <a:xfrm rot="0">
            <a:off x="0" y="57150"/>
            <a:ext cx="18288000" cy="740820"/>
          </a:xfrm>
          <a:prstGeom prst="rect">
            <a:avLst/>
          </a:prstGeom>
        </p:spPr>
        <p:txBody>
          <a:bodyPr anchor="t" rtlCol="false" tIns="0" lIns="0" bIns="0" rIns="0">
            <a:spAutoFit/>
          </a:bodyPr>
          <a:lstStyle/>
          <a:p>
            <a:pPr algn="l">
              <a:lnSpc>
                <a:spcPts val="2916"/>
              </a:lnSpc>
              <a:spcBef>
                <a:spcPct val="0"/>
              </a:spcBef>
            </a:pPr>
            <a:r>
              <a:rPr lang="en-US" sz="2916" spc="14">
                <a:solidFill>
                  <a:srgbClr val="000000"/>
                </a:solidFill>
                <a:latin typeface="Cabin"/>
                <a:ea typeface="Cabin"/>
                <a:cs typeface="Cabin"/>
                <a:sym typeface="Cabin"/>
              </a:rPr>
              <a:t>TIỀN XỬ LÝ VĂN BẢN LÀ BƯỚC QUAN TRỌNG ĐỂ CHUẨN BỊ DỮ LIỆU CHO MÔ HÌNH PHÂN TÍCH. TRONG BƯỚC NÀY, EM THỰC HIỆN CÁC CÔNG VIỆC NHƯ:</a:t>
            </a:r>
          </a:p>
        </p:txBody>
      </p:sp>
    </p:spTree>
  </p:cSld>
  <p:clrMapOvr>
    <a:masterClrMapping/>
  </p:clrMapOvr>
</p:sld>
</file>

<file path=ppt/slides/slide22.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2682478" y="4811191"/>
            <a:ext cx="12923044" cy="778918"/>
          </a:xfrm>
          <a:prstGeom prst="rect">
            <a:avLst/>
          </a:prstGeom>
        </p:spPr>
        <p:txBody>
          <a:bodyPr anchor="t" rtlCol="false" tIns="0" lIns="0" bIns="0" rIns="0">
            <a:spAutoFit/>
          </a:bodyPr>
          <a:lstStyle/>
          <a:p>
            <a:pPr algn="ctr">
              <a:lnSpc>
                <a:spcPts val="5916"/>
              </a:lnSpc>
              <a:spcBef>
                <a:spcPct val="0"/>
              </a:spcBef>
            </a:pPr>
            <a:r>
              <a:rPr lang="en-US" sz="5916" spc="29">
                <a:solidFill>
                  <a:srgbClr val="000000"/>
                </a:solidFill>
                <a:latin typeface="Playfair Display"/>
                <a:ea typeface="Playfair Display"/>
                <a:cs typeface="Playfair Display"/>
                <a:sym typeface="Playfair Display"/>
              </a:rPr>
              <a:t>C</a:t>
            </a:r>
            <a:r>
              <a:rPr lang="en-US" sz="5916" spc="29">
                <a:solidFill>
                  <a:srgbClr val="000000"/>
                </a:solidFill>
                <a:latin typeface="Playfair Display"/>
                <a:ea typeface="Playfair Display"/>
                <a:cs typeface="Playfair Display"/>
                <a:sym typeface="Playfair Display"/>
              </a:rPr>
              <a:t>HƯƠNG IV: KẾT QUẢ VÀ PHÂN TÍCH</a:t>
            </a:r>
          </a:p>
        </p:txBody>
      </p:sp>
    </p:spTree>
  </p:cSld>
  <p:clrMapOvr>
    <a:masterClrMapping/>
  </p:clrMapOvr>
</p:sld>
</file>

<file path=ppt/slides/slide23.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515836" y="4441076"/>
            <a:ext cx="15256329" cy="1521868"/>
          </a:xfrm>
          <a:prstGeom prst="rect">
            <a:avLst/>
          </a:prstGeom>
        </p:spPr>
        <p:txBody>
          <a:bodyPr anchor="t" rtlCol="false" tIns="0" lIns="0" bIns="0" rIns="0">
            <a:spAutoFit/>
          </a:bodyPr>
          <a:lstStyle/>
          <a:p>
            <a:pPr algn="ctr">
              <a:lnSpc>
                <a:spcPts val="5916"/>
              </a:lnSpc>
              <a:spcBef>
                <a:spcPct val="0"/>
              </a:spcBef>
            </a:pPr>
            <a:r>
              <a:rPr lang="en-US" sz="5916" spc="29">
                <a:solidFill>
                  <a:srgbClr val="000000"/>
                </a:solidFill>
                <a:latin typeface="Playfair Display"/>
                <a:ea typeface="Playfair Display"/>
                <a:cs typeface="Playfair Display"/>
                <a:sym typeface="Playfair Display"/>
              </a:rPr>
              <a:t>4.1 KẾT QUẢ CÁC CHỦ ĐỀ CHÍNH TỪ PHẢN HỒI SINH VIÊN</a:t>
            </a:r>
          </a:p>
        </p:txBody>
      </p:sp>
    </p:spTree>
  </p:cSld>
  <p:clrMapOvr>
    <a:masterClrMapping/>
  </p:clrMapOvr>
</p:sld>
</file>

<file path=ppt/slides/slide24.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403733" y="422082"/>
            <a:ext cx="17480535" cy="9668508"/>
          </a:xfrm>
          <a:prstGeom prst="rect">
            <a:avLst/>
          </a:prstGeom>
        </p:spPr>
        <p:txBody>
          <a:bodyPr anchor="t" rtlCol="false" tIns="0" lIns="0" bIns="0" rIns="0">
            <a:spAutoFit/>
          </a:bodyPr>
          <a:lstStyle/>
          <a:p>
            <a:pPr algn="l">
              <a:lnSpc>
                <a:spcPts val="5489"/>
              </a:lnSpc>
            </a:pPr>
            <a:r>
              <a:rPr lang="en-US" b="true" sz="3016" spc="15">
                <a:solidFill>
                  <a:srgbClr val="000000"/>
                </a:solidFill>
                <a:latin typeface="Cabin Bold"/>
                <a:ea typeface="Cabin Bold"/>
                <a:cs typeface="Cabin Bold"/>
                <a:sym typeface="Cabin Bold"/>
              </a:rPr>
              <a:t>MỘT SỐ CHỦ ĐỀ NỔI BẬT MÀ EM NHẬN ĐƯỢC TỪ KẾT QUẢ PHÂN TÍCH BAO GỒM:</a:t>
            </a:r>
          </a:p>
          <a:p>
            <a:pPr algn="l">
              <a:lnSpc>
                <a:spcPts val="5489"/>
              </a:lnSpc>
            </a:pPr>
          </a:p>
          <a:p>
            <a:pPr algn="l">
              <a:lnSpc>
                <a:spcPts val="5489"/>
              </a:lnSpc>
            </a:pPr>
            <a:r>
              <a:rPr lang="en-US" b="true" sz="3016" spc="15">
                <a:solidFill>
                  <a:srgbClr val="000000"/>
                </a:solidFill>
                <a:latin typeface="Cabin Bold"/>
                <a:ea typeface="Cabin Bold"/>
                <a:cs typeface="Cabin Bold"/>
                <a:sym typeface="Cabin Bold"/>
              </a:rPr>
              <a:t>GIẢNG VIÊN:</a:t>
            </a:r>
            <a:r>
              <a:rPr lang="en-US" sz="3016" spc="15">
                <a:solidFill>
                  <a:srgbClr val="000000"/>
                </a:solidFill>
                <a:latin typeface="Cabin"/>
                <a:ea typeface="Cabin"/>
                <a:cs typeface="Cabin"/>
                <a:sym typeface="Cabin"/>
              </a:rPr>
              <a:t> SINH VIÊN THƯỜNG XUYÊN PHẢN HỒI VỀ CHẤT LƯỢNG GIẢNG DẠY, PHƯƠNG PHÁP GIẢNG DẠY, THÁI ĐỘ CỦA GIẢNG VIÊN VÀ MỨC ĐỘ QUAN TÂM ĐẾN SINH VIÊN.</a:t>
            </a:r>
          </a:p>
          <a:p>
            <a:pPr algn="l">
              <a:lnSpc>
                <a:spcPts val="5489"/>
              </a:lnSpc>
            </a:pPr>
          </a:p>
          <a:p>
            <a:pPr algn="l">
              <a:lnSpc>
                <a:spcPts val="5489"/>
              </a:lnSpc>
            </a:pPr>
            <a:r>
              <a:rPr lang="en-US" b="true" sz="3016" spc="15">
                <a:solidFill>
                  <a:srgbClr val="000000"/>
                </a:solidFill>
                <a:latin typeface="Cabin Bold"/>
                <a:ea typeface="Cabin Bold"/>
                <a:cs typeface="Cabin Bold"/>
                <a:sym typeface="Cabin Bold"/>
              </a:rPr>
              <a:t>CHƯƠNG TRÌNH HỌC:</a:t>
            </a:r>
            <a:r>
              <a:rPr lang="en-US" sz="3016" spc="15">
                <a:solidFill>
                  <a:srgbClr val="000000"/>
                </a:solidFill>
                <a:latin typeface="Cabin"/>
                <a:ea typeface="Cabin"/>
                <a:cs typeface="Cabin"/>
                <a:sym typeface="Cabin"/>
              </a:rPr>
              <a:t> CÁC SINH VIÊN THƯỜNG XUYÊN CHIA SẺ Ý KIẾN VỀ SỰ HỢP LÝ, TÍNH THỰC TẾ VÀ ĐỘ KHÓ CỦA CÁC MÔN HỌC TRONG CHƯƠNG TRÌNH HỌC.</a:t>
            </a:r>
          </a:p>
          <a:p>
            <a:pPr algn="l">
              <a:lnSpc>
                <a:spcPts val="5489"/>
              </a:lnSpc>
            </a:pPr>
          </a:p>
          <a:p>
            <a:pPr algn="l">
              <a:lnSpc>
                <a:spcPts val="5489"/>
              </a:lnSpc>
            </a:pPr>
            <a:r>
              <a:rPr lang="en-US" b="true" sz="3016" spc="15">
                <a:solidFill>
                  <a:srgbClr val="000000"/>
                </a:solidFill>
                <a:latin typeface="Cabin Bold"/>
                <a:ea typeface="Cabin Bold"/>
                <a:cs typeface="Cabin Bold"/>
                <a:sym typeface="Cabin Bold"/>
              </a:rPr>
              <a:t>CƠ SỞ VẬT CHẤT:</a:t>
            </a:r>
            <a:r>
              <a:rPr lang="en-US" sz="3016" spc="15">
                <a:solidFill>
                  <a:srgbClr val="000000"/>
                </a:solidFill>
                <a:latin typeface="Cabin"/>
                <a:ea typeface="Cabin"/>
                <a:cs typeface="Cabin"/>
                <a:sym typeface="Cabin"/>
              </a:rPr>
              <a:t> SINH VIÊN QUAN TÂM ĐẾN CÁC TRANG THIẾT BỊ HỌC TẬP, ĐIỀU KIỆN HỌC TẬP, CƠ SỞ HẠ TẦNG CỦA TRƯỜNG, ĐẶC BIỆT LÀ PHÒNG HỌC VÀ CÁC THIẾT BỊ HỌC TẬP NHƯ MÁY CHIẾU, MÁY TÍNH.</a:t>
            </a:r>
          </a:p>
          <a:p>
            <a:pPr algn="l">
              <a:lnSpc>
                <a:spcPts val="5489"/>
              </a:lnSpc>
            </a:pPr>
          </a:p>
          <a:p>
            <a:pPr algn="l">
              <a:lnSpc>
                <a:spcPts val="5489"/>
              </a:lnSpc>
            </a:pPr>
            <a:r>
              <a:rPr lang="en-US" b="true" sz="3016" spc="15">
                <a:solidFill>
                  <a:srgbClr val="000000"/>
                </a:solidFill>
                <a:latin typeface="Cabin Bold"/>
                <a:ea typeface="Cabin Bold"/>
                <a:cs typeface="Cabin Bold"/>
                <a:sym typeface="Cabin Bold"/>
              </a:rPr>
              <a:t>CHẤT LƯỢNG DỊCH VỤ: </a:t>
            </a:r>
            <a:r>
              <a:rPr lang="en-US" sz="3016" spc="15">
                <a:solidFill>
                  <a:srgbClr val="000000"/>
                </a:solidFill>
                <a:latin typeface="Cabin"/>
                <a:ea typeface="Cabin"/>
                <a:cs typeface="Cabin"/>
                <a:sym typeface="Cabin"/>
              </a:rPr>
              <a:t>MỘT SỐ PHẢN HỒI ĐỀ CẬP ĐẾN CÁC DỊCH VỤ HỖ TRỢ SINH VIÊN NHƯ THƯ VIỆN, PHÒNG LAB, HỆ THỐNG ĐĂNG KÝ HỌC PHẦN VÀ CÁC DỊCH VỤ KHÁC.</a:t>
            </a:r>
          </a:p>
        </p:txBody>
      </p:sp>
    </p:spTree>
  </p:cSld>
  <p:clrMapOvr>
    <a:masterClrMapping/>
  </p:clrMapOvr>
</p:sld>
</file>

<file path=ppt/slides/slide25.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515836" y="4441076"/>
            <a:ext cx="15256329" cy="1521868"/>
          </a:xfrm>
          <a:prstGeom prst="rect">
            <a:avLst/>
          </a:prstGeom>
        </p:spPr>
        <p:txBody>
          <a:bodyPr anchor="t" rtlCol="false" tIns="0" lIns="0" bIns="0" rIns="0">
            <a:spAutoFit/>
          </a:bodyPr>
          <a:lstStyle/>
          <a:p>
            <a:pPr algn="ctr">
              <a:lnSpc>
                <a:spcPts val="5916"/>
              </a:lnSpc>
              <a:spcBef>
                <a:spcPct val="0"/>
              </a:spcBef>
            </a:pPr>
            <a:r>
              <a:rPr lang="en-US" sz="5916" spc="29">
                <a:solidFill>
                  <a:srgbClr val="000000"/>
                </a:solidFill>
                <a:latin typeface="Playfair Display"/>
                <a:ea typeface="Playfair Display"/>
                <a:cs typeface="Playfair Display"/>
                <a:sym typeface="Playfair Display"/>
              </a:rPr>
              <a:t>4.2 TRỰC QUAN HÓA CÁC TỪ KHÓA NỔI BẬT CỦA MÔ HÌNH LDA</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Freeform 2" id="2"/>
          <p:cNvSpPr/>
          <p:nvPr/>
        </p:nvSpPr>
        <p:spPr>
          <a:xfrm flipH="false" flipV="false" rot="0">
            <a:off x="1925900" y="2026608"/>
            <a:ext cx="14436199" cy="7946079"/>
          </a:xfrm>
          <a:custGeom>
            <a:avLst/>
            <a:gdLst/>
            <a:ahLst/>
            <a:cxnLst/>
            <a:rect r="r" b="b" t="t" l="l"/>
            <a:pathLst>
              <a:path h="7946079" w="14436199">
                <a:moveTo>
                  <a:pt x="0" y="0"/>
                </a:moveTo>
                <a:lnTo>
                  <a:pt x="14436200" y="0"/>
                </a:lnTo>
                <a:lnTo>
                  <a:pt x="14436200" y="7946079"/>
                </a:lnTo>
                <a:lnTo>
                  <a:pt x="0" y="7946079"/>
                </a:lnTo>
                <a:lnTo>
                  <a:pt x="0" y="0"/>
                </a:lnTo>
                <a:close/>
              </a:path>
            </a:pathLst>
          </a:custGeom>
          <a:blipFill>
            <a:blip r:embed="rId2"/>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Freeform 2" id="2"/>
          <p:cNvSpPr/>
          <p:nvPr/>
        </p:nvSpPr>
        <p:spPr>
          <a:xfrm flipH="false" flipV="false" rot="0">
            <a:off x="2315923" y="1148502"/>
            <a:ext cx="13656154" cy="8109798"/>
          </a:xfrm>
          <a:custGeom>
            <a:avLst/>
            <a:gdLst/>
            <a:ahLst/>
            <a:cxnLst/>
            <a:rect r="r" b="b" t="t" l="l"/>
            <a:pathLst>
              <a:path h="8109798" w="13656154">
                <a:moveTo>
                  <a:pt x="0" y="0"/>
                </a:moveTo>
                <a:lnTo>
                  <a:pt x="13656154" y="0"/>
                </a:lnTo>
                <a:lnTo>
                  <a:pt x="13656154" y="8109798"/>
                </a:lnTo>
                <a:lnTo>
                  <a:pt x="0" y="8109798"/>
                </a:lnTo>
                <a:lnTo>
                  <a:pt x="0" y="0"/>
                </a:lnTo>
                <a:close/>
              </a:path>
            </a:pathLst>
          </a:custGeom>
          <a:blipFill>
            <a:blip r:embed="rId2"/>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515836" y="4441076"/>
            <a:ext cx="15256329" cy="778918"/>
          </a:xfrm>
          <a:prstGeom prst="rect">
            <a:avLst/>
          </a:prstGeom>
        </p:spPr>
        <p:txBody>
          <a:bodyPr anchor="t" rtlCol="false" tIns="0" lIns="0" bIns="0" rIns="0">
            <a:spAutoFit/>
          </a:bodyPr>
          <a:lstStyle/>
          <a:p>
            <a:pPr algn="ctr">
              <a:lnSpc>
                <a:spcPts val="5916"/>
              </a:lnSpc>
              <a:spcBef>
                <a:spcPct val="0"/>
              </a:spcBef>
            </a:pPr>
            <a:r>
              <a:rPr lang="en-US" sz="5916" spc="29">
                <a:solidFill>
                  <a:srgbClr val="000000"/>
                </a:solidFill>
                <a:latin typeface="Playfair Display"/>
                <a:ea typeface="Playfair Display"/>
                <a:cs typeface="Playfair Display"/>
                <a:sym typeface="Playfair Display"/>
              </a:rPr>
              <a:t>4.3 ĐÁNH GIÁ MÔ HÌNH LDA</a:t>
            </a:r>
          </a:p>
        </p:txBody>
      </p:sp>
    </p:spTree>
  </p:cSld>
  <p:clrMapOvr>
    <a:masterClrMapping/>
  </p:clrMapOvr>
</p:sld>
</file>

<file path=ppt/slides/slide29.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632878" y="1276367"/>
            <a:ext cx="16847656" cy="7544349"/>
          </a:xfrm>
          <a:prstGeom prst="rect">
            <a:avLst/>
          </a:prstGeom>
        </p:spPr>
        <p:txBody>
          <a:bodyPr anchor="t" rtlCol="false" tIns="0" lIns="0" bIns="0" rIns="0">
            <a:spAutoFit/>
          </a:bodyPr>
          <a:lstStyle/>
          <a:p>
            <a:pPr algn="l">
              <a:lnSpc>
                <a:spcPts val="8685"/>
              </a:lnSpc>
            </a:pPr>
            <a:r>
              <a:rPr lang="en-US" sz="4116" spc="20">
                <a:solidFill>
                  <a:srgbClr val="000000"/>
                </a:solidFill>
                <a:latin typeface="Cabin"/>
                <a:ea typeface="Cabin"/>
                <a:cs typeface="Cabin"/>
                <a:sym typeface="Cabin"/>
              </a:rPr>
              <a:t>TRONG</a:t>
            </a:r>
            <a:r>
              <a:rPr lang="en-US" sz="4116" spc="20">
                <a:solidFill>
                  <a:srgbClr val="000000"/>
                </a:solidFill>
                <a:latin typeface="Cabin"/>
                <a:ea typeface="Cabin"/>
                <a:cs typeface="Cabin"/>
                <a:sym typeface="Cabin"/>
              </a:rPr>
              <a:t> QUÁ TRÌNH ÁP DỤNG MÔ HÌNH LDA ĐỂ PHÂN TÍCH DỮ LIỆU PHẢN HỒI TỪ SINH VIÊN, EM NHẬN THẤY MÔ HÌNH CHƯA THỰC SỰ MANG LẠI KẾT QUẢ NHƯ MONG ĐỢI. CỤ THỂ, CÁC CHỦ ĐỀ ĐƯỢC TRÍCH XUẤT ĐÔI KHI CÒN MƠ HỒ, THIẾU RÕ RÀNG, HOẶC CÓ SỰ CHỒNG CHÉO VỀ NỘI DUNG. MỘT SỐ CHỦ ĐỀ MANG TÍNH KHÁI QUÁT CAO, CHƯA PHẢN ÁNH RÕ RÀNG TỪNG KHÍA CẠNH CỤ THỂ TRONG PHẢN HỒI.</a:t>
            </a:r>
          </a:p>
        </p:txBody>
      </p:sp>
    </p:spTree>
  </p:cSld>
  <p:clrMapOvr>
    <a:masterClrMapping/>
  </p:clrMapOvr>
</p:sld>
</file>

<file path=ppt/slides/slide30.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515836" y="4441076"/>
            <a:ext cx="15256329" cy="1521868"/>
          </a:xfrm>
          <a:prstGeom prst="rect">
            <a:avLst/>
          </a:prstGeom>
        </p:spPr>
        <p:txBody>
          <a:bodyPr anchor="t" rtlCol="false" tIns="0" lIns="0" bIns="0" rIns="0">
            <a:spAutoFit/>
          </a:bodyPr>
          <a:lstStyle/>
          <a:p>
            <a:pPr algn="ctr">
              <a:lnSpc>
                <a:spcPts val="5916"/>
              </a:lnSpc>
              <a:spcBef>
                <a:spcPct val="0"/>
              </a:spcBef>
            </a:pPr>
            <a:r>
              <a:rPr lang="en-US" sz="5916" spc="29">
                <a:solidFill>
                  <a:srgbClr val="000000"/>
                </a:solidFill>
                <a:latin typeface="Playfair Display"/>
                <a:ea typeface="Playfair Display"/>
                <a:cs typeface="Playfair Display"/>
                <a:sym typeface="Playfair Display"/>
              </a:rPr>
              <a:t>4.4 TRỰC QUAN HÓA CÁC TỪ KHÓA NỔI BẬT CỦA MÔ HÌNH PHOBERT</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Freeform 2" id="2"/>
          <p:cNvSpPr/>
          <p:nvPr/>
        </p:nvSpPr>
        <p:spPr>
          <a:xfrm flipH="false" flipV="false" rot="0">
            <a:off x="3510813" y="448993"/>
            <a:ext cx="10951848" cy="8438309"/>
          </a:xfrm>
          <a:custGeom>
            <a:avLst/>
            <a:gdLst/>
            <a:ahLst/>
            <a:cxnLst/>
            <a:rect r="r" b="b" t="t" l="l"/>
            <a:pathLst>
              <a:path h="8438309" w="10951848">
                <a:moveTo>
                  <a:pt x="0" y="0"/>
                </a:moveTo>
                <a:lnTo>
                  <a:pt x="10951849" y="0"/>
                </a:lnTo>
                <a:lnTo>
                  <a:pt x="10951849" y="8438309"/>
                </a:lnTo>
                <a:lnTo>
                  <a:pt x="0" y="8438309"/>
                </a:lnTo>
                <a:lnTo>
                  <a:pt x="0" y="0"/>
                </a:lnTo>
                <a:close/>
              </a:path>
            </a:pathLst>
          </a:custGeom>
          <a:blipFill>
            <a:blip r:embed="rId2"/>
            <a:stretch>
              <a:fillRect l="0" t="0" r="0" b="0"/>
            </a:stretch>
          </a:blipFill>
        </p:spPr>
      </p:sp>
      <p:sp>
        <p:nvSpPr>
          <p:cNvPr name="TextBox 3" id="3"/>
          <p:cNvSpPr txBox="true"/>
          <p:nvPr/>
        </p:nvSpPr>
        <p:spPr>
          <a:xfrm rot="0">
            <a:off x="4002723" y="9372600"/>
            <a:ext cx="9453265" cy="778918"/>
          </a:xfrm>
          <a:prstGeom prst="rect">
            <a:avLst/>
          </a:prstGeom>
        </p:spPr>
        <p:txBody>
          <a:bodyPr anchor="t" rtlCol="false" tIns="0" lIns="0" bIns="0" rIns="0">
            <a:spAutoFit/>
          </a:bodyPr>
          <a:lstStyle/>
          <a:p>
            <a:pPr algn="ctr">
              <a:lnSpc>
                <a:spcPts val="5916"/>
              </a:lnSpc>
              <a:spcBef>
                <a:spcPct val="0"/>
              </a:spcBef>
            </a:pPr>
            <a:r>
              <a:rPr lang="en-US" sz="5916" spc="29">
                <a:solidFill>
                  <a:srgbClr val="000000"/>
                </a:solidFill>
                <a:latin typeface="Playfair Display"/>
                <a:ea typeface="Playfair Display"/>
                <a:cs typeface="Playfair Display"/>
                <a:sym typeface="Playfair Display"/>
              </a:rPr>
              <a:t>EM SỬ DỤNG SỐ CỤM LÀ 4.</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Freeform 2" id="2"/>
          <p:cNvSpPr/>
          <p:nvPr/>
        </p:nvSpPr>
        <p:spPr>
          <a:xfrm flipH="false" flipV="false" rot="0">
            <a:off x="3244932" y="3563996"/>
            <a:ext cx="11798136" cy="3812400"/>
          </a:xfrm>
          <a:custGeom>
            <a:avLst/>
            <a:gdLst/>
            <a:ahLst/>
            <a:cxnLst/>
            <a:rect r="r" b="b" t="t" l="l"/>
            <a:pathLst>
              <a:path h="3812400" w="11798136">
                <a:moveTo>
                  <a:pt x="0" y="0"/>
                </a:moveTo>
                <a:lnTo>
                  <a:pt x="11798136" y="0"/>
                </a:lnTo>
                <a:lnTo>
                  <a:pt x="11798136" y="3812399"/>
                </a:lnTo>
                <a:lnTo>
                  <a:pt x="0" y="3812399"/>
                </a:lnTo>
                <a:lnTo>
                  <a:pt x="0" y="0"/>
                </a:lnTo>
                <a:close/>
              </a:path>
            </a:pathLst>
          </a:custGeom>
          <a:blipFill>
            <a:blip r:embed="rId2"/>
            <a:stretch>
              <a:fillRect l="0" t="0" r="0" b="0"/>
            </a:stretch>
          </a:blipFill>
        </p:spPr>
      </p:sp>
      <p:sp>
        <p:nvSpPr>
          <p:cNvPr name="TextBox 3" id="3"/>
          <p:cNvSpPr txBox="true"/>
          <p:nvPr/>
        </p:nvSpPr>
        <p:spPr>
          <a:xfrm rot="0">
            <a:off x="1129217" y="1484033"/>
            <a:ext cx="16640621" cy="764314"/>
          </a:xfrm>
          <a:prstGeom prst="rect">
            <a:avLst/>
          </a:prstGeom>
        </p:spPr>
        <p:txBody>
          <a:bodyPr anchor="t" rtlCol="false" tIns="0" lIns="0" bIns="0" rIns="0">
            <a:spAutoFit/>
          </a:bodyPr>
          <a:lstStyle/>
          <a:p>
            <a:pPr algn="ctr">
              <a:lnSpc>
                <a:spcPts val="5716"/>
              </a:lnSpc>
              <a:spcBef>
                <a:spcPct val="0"/>
              </a:spcBef>
            </a:pPr>
            <a:r>
              <a:rPr lang="en-US" sz="5716" spc="28">
                <a:solidFill>
                  <a:srgbClr val="000000"/>
                </a:solidFill>
                <a:latin typeface="Playfair Display"/>
                <a:ea typeface="Playfair Display"/>
                <a:cs typeface="Playfair Display"/>
                <a:sym typeface="Playfair Display"/>
              </a:rPr>
              <a:t>10 TỪ CÓ XÁC SUẤT CAO NHẤT CHO MỖI CHỦ ĐỀ</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Freeform 2" id="2"/>
          <p:cNvSpPr/>
          <p:nvPr/>
        </p:nvSpPr>
        <p:spPr>
          <a:xfrm flipH="false" flipV="false" rot="0">
            <a:off x="2200527" y="2384440"/>
            <a:ext cx="14498001" cy="7394563"/>
          </a:xfrm>
          <a:custGeom>
            <a:avLst/>
            <a:gdLst/>
            <a:ahLst/>
            <a:cxnLst/>
            <a:rect r="r" b="b" t="t" l="l"/>
            <a:pathLst>
              <a:path h="7394563" w="14498001">
                <a:moveTo>
                  <a:pt x="0" y="0"/>
                </a:moveTo>
                <a:lnTo>
                  <a:pt x="14498001" y="0"/>
                </a:lnTo>
                <a:lnTo>
                  <a:pt x="14498001" y="7394563"/>
                </a:lnTo>
                <a:lnTo>
                  <a:pt x="0" y="7394563"/>
                </a:lnTo>
                <a:lnTo>
                  <a:pt x="0" y="0"/>
                </a:lnTo>
                <a:close/>
              </a:path>
            </a:pathLst>
          </a:custGeom>
          <a:blipFill>
            <a:blip r:embed="rId2"/>
            <a:stretch>
              <a:fillRect l="0" t="0" r="0" b="0"/>
            </a:stretch>
          </a:blipFill>
        </p:spPr>
      </p:sp>
      <p:sp>
        <p:nvSpPr>
          <p:cNvPr name="TextBox 3" id="3"/>
          <p:cNvSpPr txBox="true"/>
          <p:nvPr/>
        </p:nvSpPr>
        <p:spPr>
          <a:xfrm rot="0">
            <a:off x="7014476" y="1484033"/>
            <a:ext cx="4870103" cy="764314"/>
          </a:xfrm>
          <a:prstGeom prst="rect">
            <a:avLst/>
          </a:prstGeom>
        </p:spPr>
        <p:txBody>
          <a:bodyPr anchor="t" rtlCol="false" tIns="0" lIns="0" bIns="0" rIns="0">
            <a:spAutoFit/>
          </a:bodyPr>
          <a:lstStyle/>
          <a:p>
            <a:pPr algn="ctr">
              <a:lnSpc>
                <a:spcPts val="5716"/>
              </a:lnSpc>
              <a:spcBef>
                <a:spcPct val="0"/>
              </a:spcBef>
            </a:pPr>
            <a:r>
              <a:rPr lang="en-US" sz="5716" spc="28">
                <a:solidFill>
                  <a:srgbClr val="000000"/>
                </a:solidFill>
                <a:latin typeface="Playfair Display"/>
                <a:ea typeface="Playfair Display"/>
                <a:cs typeface="Playfair Display"/>
                <a:sym typeface="Playfair Display"/>
              </a:rPr>
              <a:t>WORD</a:t>
            </a:r>
            <a:r>
              <a:rPr lang="en-US" sz="5716" spc="28">
                <a:solidFill>
                  <a:srgbClr val="000000"/>
                </a:solidFill>
                <a:latin typeface="Playfair Display"/>
                <a:ea typeface="Playfair Display"/>
                <a:cs typeface="Playfair Display"/>
                <a:sym typeface="Playfair Display"/>
              </a:rPr>
              <a:t> CLOUD</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EFEEE7"/>
        </a:solidFill>
      </p:bgPr>
    </p:bg>
    <p:spTree>
      <p:nvGrpSpPr>
        <p:cNvPr id="1" name=""/>
        <p:cNvGrpSpPr/>
        <p:nvPr/>
      </p:nvGrpSpPr>
      <p:grpSpPr>
        <a:xfrm>
          <a:off x="0" y="0"/>
          <a:ext cx="0" cy="0"/>
          <a:chOff x="0" y="0"/>
          <a:chExt cx="0" cy="0"/>
        </a:xfrm>
      </p:grpSpPr>
      <p:sp>
        <p:nvSpPr>
          <p:cNvPr name="Freeform 2" id="2"/>
          <p:cNvSpPr/>
          <p:nvPr/>
        </p:nvSpPr>
        <p:spPr>
          <a:xfrm flipH="false" flipV="false" rot="0">
            <a:off x="1616628" y="3390496"/>
            <a:ext cx="15054743" cy="6569342"/>
          </a:xfrm>
          <a:custGeom>
            <a:avLst/>
            <a:gdLst/>
            <a:ahLst/>
            <a:cxnLst/>
            <a:rect r="r" b="b" t="t" l="l"/>
            <a:pathLst>
              <a:path h="6569342" w="15054743">
                <a:moveTo>
                  <a:pt x="0" y="0"/>
                </a:moveTo>
                <a:lnTo>
                  <a:pt x="15054744" y="0"/>
                </a:lnTo>
                <a:lnTo>
                  <a:pt x="15054744" y="6569343"/>
                </a:lnTo>
                <a:lnTo>
                  <a:pt x="0" y="6569343"/>
                </a:lnTo>
                <a:lnTo>
                  <a:pt x="0" y="0"/>
                </a:lnTo>
                <a:close/>
              </a:path>
            </a:pathLst>
          </a:custGeom>
          <a:blipFill>
            <a:blip r:embed="rId2"/>
            <a:stretch>
              <a:fillRect l="0" t="0" r="0" b="0"/>
            </a:stretch>
          </a:blipFill>
        </p:spPr>
      </p:sp>
      <p:sp>
        <p:nvSpPr>
          <p:cNvPr name="TextBox 3" id="3"/>
          <p:cNvSpPr txBox="true"/>
          <p:nvPr/>
        </p:nvSpPr>
        <p:spPr>
          <a:xfrm rot="0">
            <a:off x="2964640" y="1484033"/>
            <a:ext cx="12969776" cy="764314"/>
          </a:xfrm>
          <a:prstGeom prst="rect">
            <a:avLst/>
          </a:prstGeom>
        </p:spPr>
        <p:txBody>
          <a:bodyPr anchor="t" rtlCol="false" tIns="0" lIns="0" bIns="0" rIns="0">
            <a:spAutoFit/>
          </a:bodyPr>
          <a:lstStyle/>
          <a:p>
            <a:pPr algn="ctr">
              <a:lnSpc>
                <a:spcPts val="5716"/>
              </a:lnSpc>
              <a:spcBef>
                <a:spcPct val="0"/>
              </a:spcBef>
            </a:pPr>
            <a:r>
              <a:rPr lang="en-US" sz="5716" spc="28">
                <a:solidFill>
                  <a:srgbClr val="000000"/>
                </a:solidFill>
                <a:latin typeface="Playfair Display"/>
                <a:ea typeface="Playfair Display"/>
                <a:cs typeface="Playfair Display"/>
                <a:sym typeface="Playfair Display"/>
              </a:rPr>
              <a:t>IN CÁC CHỦ ĐỀ VÀ TỪ KHÓA ĐẠI</a:t>
            </a:r>
            <a:r>
              <a:rPr lang="en-US" sz="5716" spc="28">
                <a:solidFill>
                  <a:srgbClr val="000000"/>
                </a:solidFill>
                <a:latin typeface="Playfair Display"/>
                <a:ea typeface="Playfair Display"/>
                <a:cs typeface="Playfair Display"/>
                <a:sym typeface="Playfair Display"/>
              </a:rPr>
              <a:t> DIỆN</a:t>
            </a:r>
          </a:p>
        </p:txBody>
      </p:sp>
    </p:spTree>
  </p:cSld>
  <p:clrMapOvr>
    <a:masterClrMapping/>
  </p:clrMapOvr>
</p:sld>
</file>

<file path=ppt/slides/slide35.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515836" y="4441076"/>
            <a:ext cx="15256329" cy="778918"/>
          </a:xfrm>
          <a:prstGeom prst="rect">
            <a:avLst/>
          </a:prstGeom>
        </p:spPr>
        <p:txBody>
          <a:bodyPr anchor="t" rtlCol="false" tIns="0" lIns="0" bIns="0" rIns="0">
            <a:spAutoFit/>
          </a:bodyPr>
          <a:lstStyle/>
          <a:p>
            <a:pPr algn="ctr">
              <a:lnSpc>
                <a:spcPts val="5916"/>
              </a:lnSpc>
              <a:spcBef>
                <a:spcPct val="0"/>
              </a:spcBef>
            </a:pPr>
            <a:r>
              <a:rPr lang="en-US" sz="5916" spc="29">
                <a:solidFill>
                  <a:srgbClr val="000000"/>
                </a:solidFill>
                <a:latin typeface="Playfair Display"/>
                <a:ea typeface="Playfair Display"/>
                <a:cs typeface="Playfair Display"/>
                <a:sym typeface="Playfair Display"/>
              </a:rPr>
              <a:t>4.5. ĐÁNH GIÁ MÔ HÌNH PHOBERT</a:t>
            </a:r>
          </a:p>
        </p:txBody>
      </p:sp>
    </p:spTree>
  </p:cSld>
  <p:clrMapOvr>
    <a:masterClrMapping/>
  </p:clrMapOvr>
</p:sld>
</file>

<file path=ppt/slides/slide36.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240057" y="517732"/>
            <a:ext cx="16607599" cy="9747850"/>
          </a:xfrm>
          <a:prstGeom prst="rect">
            <a:avLst/>
          </a:prstGeom>
        </p:spPr>
        <p:txBody>
          <a:bodyPr anchor="t" rtlCol="false" tIns="0" lIns="0" bIns="0" rIns="0">
            <a:spAutoFit/>
          </a:bodyPr>
          <a:lstStyle/>
          <a:p>
            <a:pPr algn="l">
              <a:lnSpc>
                <a:spcPts val="6499"/>
              </a:lnSpc>
            </a:pPr>
            <a:r>
              <a:rPr lang="en-US" sz="3316" spc="16">
                <a:solidFill>
                  <a:srgbClr val="000000"/>
                </a:solidFill>
                <a:latin typeface="Cabin"/>
                <a:ea typeface="Cabin"/>
                <a:cs typeface="Cabin"/>
                <a:sym typeface="Cabin"/>
              </a:rPr>
              <a:t>M</a:t>
            </a:r>
            <a:r>
              <a:rPr lang="en-US" sz="3316" spc="16">
                <a:solidFill>
                  <a:srgbClr val="000000"/>
                </a:solidFill>
                <a:latin typeface="Cabin"/>
                <a:ea typeface="Cabin"/>
                <a:cs typeface="Cabin"/>
                <a:sym typeface="Cabin"/>
              </a:rPr>
              <a:t>Ô HÌNH PHOBERT ĐÃ ĐƯỢC ÁP DỤNG ĐỂ PHÂN TÍCH VÀ TRÍCH XUẤT CÁC CHỦ ĐỀ TỪ PHẢN HỒI SINH VIÊN BẰNG TIẾNG VIỆT. KẾT QUẢ CHO THẤY MÔ HÌNH CÓ KHẢ NĂNG NẮM BẮT NGỮ CẢNH TỐT HƠN SO VỚI MÔ HÌNH LDA TRUYỀN THỐNG, ĐẶC BIỆT LÀ TRONG VIỆC XỬ LÝ CÁC CÂU DÀI, PHỨC TẠP HOẶC MANG TÍNH BIỂU CẢM.</a:t>
            </a:r>
          </a:p>
          <a:p>
            <a:pPr algn="l">
              <a:lnSpc>
                <a:spcPts val="6499"/>
              </a:lnSpc>
            </a:pPr>
          </a:p>
          <a:p>
            <a:pPr algn="l">
              <a:lnSpc>
                <a:spcPts val="6499"/>
              </a:lnSpc>
            </a:pPr>
            <a:r>
              <a:rPr lang="en-US" sz="3316" spc="16">
                <a:solidFill>
                  <a:srgbClr val="000000"/>
                </a:solidFill>
                <a:latin typeface="Cabin"/>
                <a:ea typeface="Cabin"/>
                <a:cs typeface="Cabin"/>
                <a:sym typeface="Cabin"/>
              </a:rPr>
              <a:t>TUY NHIÊN, VẪN TỒN TẠI MỘT SỐ HẠN CHẾ. MỘT SỐ CHỦ ĐỀ ĐƯỢC TRÍCH XUẤT CHƯA THẬT SỰ RÕ RÀNG, VÍ DỤ NHƯ CHỦ ĐỀ 3 TRONG KẾT QUẢ KHÔNG CÓ CÂU ĐẠI DIỆN CỤ THỂ, CHO THẤY MÔ HÌNH ĐÔI KHI GẶP KHÓ KHĂN TRONG VIỆC GOM NHÓM NỘI DUNG CÓ LIÊN QUAN. MỘT SỐ CÂU THUỘC CÁC CHỦ ĐỀ KHÁC NHAU CŨNG CÓ NỘI DUNG CHỒNG LẤN, ĐIỀU NÀY ĐẶT RA THÁCH THỨC TRONG VIỆC XÁC ĐỊNH RANH GIỚI RÕ RÀNG GIỮA CÁC CHỦ ĐỀ.</a:t>
            </a:r>
          </a:p>
          <a:p>
            <a:pPr algn="l">
              <a:lnSpc>
                <a:spcPts val="6499"/>
              </a:lnSpc>
            </a:pPr>
          </a:p>
        </p:txBody>
      </p:sp>
    </p:spTree>
  </p:cSld>
  <p:clrMapOvr>
    <a:masterClrMapping/>
  </p:clrMapOvr>
</p:sld>
</file>

<file path=ppt/slides/slide37.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025426" y="4811191"/>
            <a:ext cx="16237148" cy="778918"/>
          </a:xfrm>
          <a:prstGeom prst="rect">
            <a:avLst/>
          </a:prstGeom>
        </p:spPr>
        <p:txBody>
          <a:bodyPr anchor="t" rtlCol="false" tIns="0" lIns="0" bIns="0" rIns="0">
            <a:spAutoFit/>
          </a:bodyPr>
          <a:lstStyle/>
          <a:p>
            <a:pPr algn="ctr">
              <a:lnSpc>
                <a:spcPts val="5916"/>
              </a:lnSpc>
              <a:spcBef>
                <a:spcPct val="0"/>
              </a:spcBef>
            </a:pPr>
            <a:r>
              <a:rPr lang="en-US" sz="5916" spc="29">
                <a:solidFill>
                  <a:srgbClr val="000000"/>
                </a:solidFill>
                <a:latin typeface="Playfair Display"/>
                <a:ea typeface="Playfair Display"/>
                <a:cs typeface="Playfair Display"/>
                <a:sym typeface="Playfair Display"/>
              </a:rPr>
              <a:t>CHƯƠNG</a:t>
            </a:r>
            <a:r>
              <a:rPr lang="en-US" sz="5916" spc="29">
                <a:solidFill>
                  <a:srgbClr val="000000"/>
                </a:solidFill>
                <a:latin typeface="Playfair Display"/>
                <a:ea typeface="Playfair Display"/>
                <a:cs typeface="Playfair Display"/>
                <a:sym typeface="Playfair Display"/>
              </a:rPr>
              <a:t> V: KẾT LUẬN VÀ HƯỚNG PHÁT TRIỂN</a:t>
            </a:r>
          </a:p>
        </p:txBody>
      </p:sp>
    </p:spTree>
  </p:cSld>
  <p:clrMapOvr>
    <a:masterClrMapping/>
  </p:clrMapOvr>
</p:sld>
</file>

<file path=ppt/slides/slide38.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202209" y="2913637"/>
            <a:ext cx="18064843" cy="5402701"/>
          </a:xfrm>
          <a:prstGeom prst="rect">
            <a:avLst/>
          </a:prstGeom>
        </p:spPr>
        <p:txBody>
          <a:bodyPr anchor="t" rtlCol="false" tIns="0" lIns="0" bIns="0" rIns="0">
            <a:spAutoFit/>
          </a:bodyPr>
          <a:lstStyle/>
          <a:p>
            <a:pPr algn="l">
              <a:lnSpc>
                <a:spcPts val="11024"/>
              </a:lnSpc>
            </a:pPr>
            <a:r>
              <a:rPr lang="en-US" sz="5200" spc="26">
                <a:solidFill>
                  <a:srgbClr val="000000"/>
                </a:solidFill>
                <a:latin typeface="Cabin"/>
                <a:ea typeface="Cabin"/>
                <a:cs typeface="Cabin"/>
                <a:sym typeface="Cabin"/>
              </a:rPr>
              <a:t>5</a:t>
            </a:r>
            <a:r>
              <a:rPr lang="en-US" sz="5200" spc="26">
                <a:solidFill>
                  <a:srgbClr val="000000"/>
                </a:solidFill>
                <a:latin typeface="Cabin"/>
                <a:ea typeface="Cabin"/>
                <a:cs typeface="Cabin"/>
                <a:sym typeface="Cabin"/>
              </a:rPr>
              <a:t>.1. KẾT LUẬN NGHIÊN CỨU</a:t>
            </a:r>
          </a:p>
          <a:p>
            <a:pPr algn="l">
              <a:lnSpc>
                <a:spcPts val="11024"/>
              </a:lnSpc>
            </a:pPr>
            <a:r>
              <a:rPr lang="en-US" sz="5200" spc="26">
                <a:solidFill>
                  <a:srgbClr val="000000"/>
                </a:solidFill>
                <a:latin typeface="Cabin"/>
                <a:ea typeface="Cabin"/>
                <a:cs typeface="Cabin"/>
                <a:sym typeface="Cabin"/>
              </a:rPr>
              <a:t>5</a:t>
            </a:r>
            <a:r>
              <a:rPr lang="en-US" sz="5200" spc="26">
                <a:solidFill>
                  <a:srgbClr val="000000"/>
                </a:solidFill>
                <a:latin typeface="Cabin"/>
                <a:ea typeface="Cabin"/>
                <a:cs typeface="Cabin"/>
                <a:sym typeface="Cabin"/>
              </a:rPr>
              <a:t>.2. HẠN CHẾ VÀ ĐỀ XUẤT</a:t>
            </a:r>
          </a:p>
          <a:p>
            <a:pPr algn="l">
              <a:lnSpc>
                <a:spcPts val="11024"/>
              </a:lnSpc>
            </a:pPr>
            <a:r>
              <a:rPr lang="en-US" sz="5200" spc="26">
                <a:solidFill>
                  <a:srgbClr val="000000"/>
                </a:solidFill>
                <a:latin typeface="Cabin"/>
                <a:ea typeface="Cabin"/>
                <a:cs typeface="Cabin"/>
                <a:sym typeface="Cabin"/>
              </a:rPr>
              <a:t>5</a:t>
            </a:r>
            <a:r>
              <a:rPr lang="en-US" sz="5200" spc="26">
                <a:solidFill>
                  <a:srgbClr val="000000"/>
                </a:solidFill>
                <a:latin typeface="Cabin"/>
                <a:ea typeface="Cabin"/>
                <a:cs typeface="Cabin"/>
                <a:sym typeface="Cabin"/>
              </a:rPr>
              <a:t>.3. HƯỚNG PHÁT TRIỂN TRONG TƯƠNG LAI</a:t>
            </a:r>
          </a:p>
          <a:p>
            <a:pPr algn="l">
              <a:lnSpc>
                <a:spcPts val="11024"/>
              </a:lnSpc>
            </a:pPr>
          </a:p>
        </p:txBody>
      </p:sp>
    </p:spTree>
  </p:cSld>
  <p:clrMapOvr>
    <a:masterClrMapping/>
  </p:clrMapOvr>
</p:sld>
</file>

<file path=ppt/slides/slide39.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4377110" y="4811191"/>
            <a:ext cx="9533781" cy="778918"/>
          </a:xfrm>
          <a:prstGeom prst="rect">
            <a:avLst/>
          </a:prstGeom>
        </p:spPr>
        <p:txBody>
          <a:bodyPr anchor="t" rtlCol="false" tIns="0" lIns="0" bIns="0" rIns="0">
            <a:spAutoFit/>
          </a:bodyPr>
          <a:lstStyle/>
          <a:p>
            <a:pPr algn="ctr">
              <a:lnSpc>
                <a:spcPts val="5916"/>
              </a:lnSpc>
              <a:spcBef>
                <a:spcPct val="0"/>
              </a:spcBef>
            </a:pPr>
            <a:r>
              <a:rPr lang="en-US" sz="5916" spc="29">
                <a:solidFill>
                  <a:srgbClr val="000000"/>
                </a:solidFill>
                <a:latin typeface="Playfair Display"/>
                <a:ea typeface="Playfair Display"/>
                <a:cs typeface="Playfair Display"/>
                <a:sym typeface="Playfair Display"/>
              </a:rPr>
              <a:t>5.1.</a:t>
            </a:r>
            <a:r>
              <a:rPr lang="en-US" sz="5916" spc="29">
                <a:solidFill>
                  <a:srgbClr val="000000"/>
                </a:solidFill>
                <a:latin typeface="Playfair Display"/>
                <a:ea typeface="Playfair Display"/>
                <a:cs typeface="Playfair Display"/>
                <a:sym typeface="Playfair Display"/>
              </a:rPr>
              <a:t> KẾT LUẬN NGHIÊN CỨU</a:t>
            </a:r>
          </a:p>
        </p:txBody>
      </p:sp>
    </p:spTree>
  </p:cSld>
  <p:clrMapOvr>
    <a:masterClrMapping/>
  </p:clrMapOvr>
</p:sld>
</file>

<file path=ppt/slides/slide40.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0" y="460582"/>
            <a:ext cx="18288000" cy="9070561"/>
          </a:xfrm>
          <a:prstGeom prst="rect">
            <a:avLst/>
          </a:prstGeom>
        </p:spPr>
        <p:txBody>
          <a:bodyPr anchor="t" rtlCol="false" tIns="0" lIns="0" bIns="0" rIns="0">
            <a:spAutoFit/>
          </a:bodyPr>
          <a:lstStyle/>
          <a:p>
            <a:pPr algn="l">
              <a:lnSpc>
                <a:spcPts val="8067"/>
              </a:lnSpc>
            </a:pPr>
            <a:r>
              <a:rPr lang="en-US" sz="4116" spc="20">
                <a:solidFill>
                  <a:srgbClr val="000000"/>
                </a:solidFill>
                <a:latin typeface="Cabin"/>
                <a:ea typeface="Cabin"/>
                <a:cs typeface="Cabin"/>
                <a:sym typeface="Cabin"/>
              </a:rPr>
              <a:t>KẾT QUẢ TỪ CẢ HAI MÔ HÌNH ĐỀU CHO THẤY NHỮNG CHỦ ĐỀ XOAY QUANH CHƯƠNG TRÌNH HỌC, CHẤT LƯỢNG GIẢNG DẠY, CƠ SỞ VẬT CHẤT VÀ SỰ HỖ TRỢ TỪ NHÀ TRƯỜNG. THÔNG QUA VIỆC TRỰC QUAN HÓA BẰNG BIỂU ĐỒ VÀ WORD CLOUD, EM DỄ DÀNG NHÌN RA ĐƯỢC CÁC TỪ KHÓA NỔI BẬT, TỪ ĐÓ HIỂU HƠN VỀ NHỮNG VẤN ĐỀ SINH VIÊN QUAN TÂM.</a:t>
            </a:r>
          </a:p>
          <a:p>
            <a:pPr algn="l">
              <a:lnSpc>
                <a:spcPts val="8067"/>
              </a:lnSpc>
            </a:pPr>
            <a:r>
              <a:rPr lang="en-US" sz="4116" spc="20">
                <a:solidFill>
                  <a:srgbClr val="000000"/>
                </a:solidFill>
                <a:latin typeface="Cabin"/>
                <a:ea typeface="Cabin"/>
                <a:cs typeface="Cabin"/>
                <a:sym typeface="Cabin"/>
              </a:rPr>
              <a:t>MẶC DÙ VẪN CÒN MỘT SỐ ĐIỂM HẠN CHẾ, NHƯNG NHÌN CHUNG, VIỆC SỬ DỤNG CÁC MÔ HÌNH HỌC MÁY NHƯ LDA VÀ PHOBERT ĐÃ GIÚP EM TIẾP CẬN MỘT CÁCH HIỆU QUẢ VỚI BÀI TOÁN PHÂN TÍCH PHẢN HỒI TỰ DO, VỐN THƯỜNG KHÓ XỬ LÝ BẰNG PHƯƠNG PHÁP THỦ CÔNG.</a:t>
            </a:r>
          </a:p>
        </p:txBody>
      </p:sp>
    </p:spTree>
  </p:cSld>
  <p:clrMapOvr>
    <a:masterClrMapping/>
  </p:clrMapOvr>
</p:sld>
</file>

<file path=ppt/slides/slide41.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4694188" y="4811191"/>
            <a:ext cx="8899624" cy="778918"/>
          </a:xfrm>
          <a:prstGeom prst="rect">
            <a:avLst/>
          </a:prstGeom>
        </p:spPr>
        <p:txBody>
          <a:bodyPr anchor="t" rtlCol="false" tIns="0" lIns="0" bIns="0" rIns="0">
            <a:spAutoFit/>
          </a:bodyPr>
          <a:lstStyle/>
          <a:p>
            <a:pPr algn="ctr">
              <a:lnSpc>
                <a:spcPts val="5916"/>
              </a:lnSpc>
              <a:spcBef>
                <a:spcPct val="0"/>
              </a:spcBef>
            </a:pPr>
            <a:r>
              <a:rPr lang="en-US" sz="5916" spc="29">
                <a:solidFill>
                  <a:srgbClr val="000000"/>
                </a:solidFill>
                <a:latin typeface="Playfair Display"/>
                <a:ea typeface="Playfair Display"/>
                <a:cs typeface="Playfair Display"/>
                <a:sym typeface="Playfair Display"/>
              </a:rPr>
              <a:t>5.2.</a:t>
            </a:r>
            <a:r>
              <a:rPr lang="en-US" sz="5916" spc="29">
                <a:solidFill>
                  <a:srgbClr val="000000"/>
                </a:solidFill>
                <a:latin typeface="Playfair Display"/>
                <a:ea typeface="Playfair Display"/>
                <a:cs typeface="Playfair Display"/>
                <a:sym typeface="Playfair Display"/>
              </a:rPr>
              <a:t> HẠN CHẾ VÀ ĐỀ XUẤT</a:t>
            </a:r>
          </a:p>
        </p:txBody>
      </p:sp>
    </p:spTree>
  </p:cSld>
  <p:clrMapOvr>
    <a:masterClrMapping/>
  </p:clrMapOvr>
</p:sld>
</file>

<file path=ppt/slides/slide42.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0" y="460582"/>
            <a:ext cx="18288000" cy="10089736"/>
          </a:xfrm>
          <a:prstGeom prst="rect">
            <a:avLst/>
          </a:prstGeom>
        </p:spPr>
        <p:txBody>
          <a:bodyPr anchor="t" rtlCol="false" tIns="0" lIns="0" bIns="0" rIns="0">
            <a:spAutoFit/>
          </a:bodyPr>
          <a:lstStyle/>
          <a:p>
            <a:pPr algn="l">
              <a:lnSpc>
                <a:spcPts val="8067"/>
              </a:lnSpc>
            </a:pPr>
            <a:r>
              <a:rPr lang="en-US" sz="4116" spc="20">
                <a:solidFill>
                  <a:srgbClr val="000000"/>
                </a:solidFill>
                <a:latin typeface="Cabin"/>
                <a:ea typeface="Cabin"/>
                <a:cs typeface="Cabin"/>
                <a:sym typeface="Cabin"/>
              </a:rPr>
              <a:t>TRONG</a:t>
            </a:r>
            <a:r>
              <a:rPr lang="en-US" sz="4116" spc="20">
                <a:solidFill>
                  <a:srgbClr val="000000"/>
                </a:solidFill>
                <a:latin typeface="Cabin"/>
                <a:ea typeface="Cabin"/>
                <a:cs typeface="Cabin"/>
                <a:sym typeface="Cabin"/>
              </a:rPr>
              <a:t> QUÁ TRÌNH LÀM, EM NHẬN THẤY MỘT SỐ VẤN ĐỀ CẦN CẢI THIỆN NHƯ:</a:t>
            </a:r>
          </a:p>
          <a:p>
            <a:pPr algn="l" marL="888672" indent="-444336" lvl="1">
              <a:lnSpc>
                <a:spcPts val="8067"/>
              </a:lnSpc>
              <a:buFont typeface="Arial"/>
              <a:buChar char="•"/>
            </a:pPr>
            <a:r>
              <a:rPr lang="en-US" sz="4116" spc="20">
                <a:solidFill>
                  <a:srgbClr val="000000"/>
                </a:solidFill>
                <a:latin typeface="Cabin"/>
                <a:ea typeface="Cabin"/>
                <a:cs typeface="Cabin"/>
                <a:sym typeface="Cabin"/>
              </a:rPr>
              <a:t>MÔ HÌNH LDA ĐÔI KHI GOM NHỮNG Ý KIẾN KHÁC NHAU VÀO CÙNG MỘT CHỦ ĐỀ, ĐẶC BIỆT LÀ KHI NỘI DUNG CÁC PHẢN HỒI BỊ CHỒNG CHÉO.</a:t>
            </a:r>
          </a:p>
          <a:p>
            <a:pPr algn="l" marL="888672" indent="-444336" lvl="1">
              <a:lnSpc>
                <a:spcPts val="8067"/>
              </a:lnSpc>
              <a:buFont typeface="Arial"/>
              <a:buChar char="•"/>
            </a:pPr>
            <a:r>
              <a:rPr lang="en-US" sz="4116" spc="20">
                <a:solidFill>
                  <a:srgbClr val="000000"/>
                </a:solidFill>
                <a:latin typeface="Cabin"/>
                <a:ea typeface="Cabin"/>
                <a:cs typeface="Cabin"/>
                <a:sym typeface="Cabin"/>
              </a:rPr>
              <a:t>PHOBERT CHO KẾT QUẢ TỐT NHƯNG LẠI TỐN NHIỀU THỜI GIAN XỬ LÝ VÀ CẦN MÁY TÍNH CẤU HÌNH MẠNH HƠN.</a:t>
            </a:r>
          </a:p>
          <a:p>
            <a:pPr algn="l" marL="888672" indent="-444336" lvl="1">
              <a:lnSpc>
                <a:spcPts val="8067"/>
              </a:lnSpc>
              <a:buFont typeface="Arial"/>
              <a:buChar char="•"/>
            </a:pPr>
            <a:r>
              <a:rPr lang="en-US" sz="4116" spc="20">
                <a:solidFill>
                  <a:srgbClr val="000000"/>
                </a:solidFill>
                <a:latin typeface="Cabin"/>
                <a:ea typeface="Cabin"/>
                <a:cs typeface="Cabin"/>
                <a:sym typeface="Cabin"/>
              </a:rPr>
              <a:t>DỮ LIỆU ĐẦU VÀO CHƯA ĐƯỢC LÀM SẠCH HOÀN TOÀN, VẪN CÒN MỘT SỐ TỪ DƯ THỪA, TỪ VIẾT TẮT, HAY LỖI CHÍNH TẢ ẢNH HƯỞNG ĐẾN KẾT QUẢ.</a:t>
            </a:r>
          </a:p>
          <a:p>
            <a:pPr algn="l">
              <a:lnSpc>
                <a:spcPts val="8067"/>
              </a:lnSpc>
            </a:pPr>
          </a:p>
        </p:txBody>
      </p:sp>
    </p:spTree>
  </p:cSld>
  <p:clrMapOvr>
    <a:masterClrMapping/>
  </p:clrMapOvr>
</p:sld>
</file>

<file path=ppt/slides/slide43.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1487909" y="4811191"/>
            <a:ext cx="15312182" cy="778918"/>
          </a:xfrm>
          <a:prstGeom prst="rect">
            <a:avLst/>
          </a:prstGeom>
        </p:spPr>
        <p:txBody>
          <a:bodyPr anchor="t" rtlCol="false" tIns="0" lIns="0" bIns="0" rIns="0">
            <a:spAutoFit/>
          </a:bodyPr>
          <a:lstStyle/>
          <a:p>
            <a:pPr algn="ctr">
              <a:lnSpc>
                <a:spcPts val="5916"/>
              </a:lnSpc>
              <a:spcBef>
                <a:spcPct val="0"/>
              </a:spcBef>
            </a:pPr>
            <a:r>
              <a:rPr lang="en-US" sz="5916" spc="29">
                <a:solidFill>
                  <a:srgbClr val="000000"/>
                </a:solidFill>
                <a:latin typeface="Playfair Display"/>
                <a:ea typeface="Playfair Display"/>
                <a:cs typeface="Playfair Display"/>
                <a:sym typeface="Playfair Display"/>
              </a:rPr>
              <a:t>5.3.</a:t>
            </a:r>
            <a:r>
              <a:rPr lang="en-US" sz="5916" spc="29">
                <a:solidFill>
                  <a:srgbClr val="000000"/>
                </a:solidFill>
                <a:latin typeface="Playfair Display"/>
                <a:ea typeface="Playfair Display"/>
                <a:cs typeface="Playfair Display"/>
                <a:sym typeface="Playfair Display"/>
              </a:rPr>
              <a:t> HƯỚNG PHÁT TRIỂN TRONG TƯƠNG LAI</a:t>
            </a:r>
          </a:p>
        </p:txBody>
      </p:sp>
    </p:spTree>
  </p:cSld>
  <p:clrMapOvr>
    <a:masterClrMapping/>
  </p:clrMapOvr>
</p:sld>
</file>

<file path=ppt/slides/slide44.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0" y="517732"/>
            <a:ext cx="18288000" cy="10291974"/>
          </a:xfrm>
          <a:prstGeom prst="rect">
            <a:avLst/>
          </a:prstGeom>
        </p:spPr>
        <p:txBody>
          <a:bodyPr anchor="t" rtlCol="false" tIns="0" lIns="0" bIns="0" rIns="0">
            <a:spAutoFit/>
          </a:bodyPr>
          <a:lstStyle/>
          <a:p>
            <a:pPr algn="l">
              <a:lnSpc>
                <a:spcPts val="7450"/>
              </a:lnSpc>
            </a:pPr>
            <a:r>
              <a:rPr lang="en-US" sz="4116" spc="20">
                <a:solidFill>
                  <a:srgbClr val="000000"/>
                </a:solidFill>
                <a:latin typeface="Cabin"/>
                <a:ea typeface="Cabin"/>
                <a:cs typeface="Cabin"/>
                <a:sym typeface="Cabin"/>
              </a:rPr>
              <a:t>N</a:t>
            </a:r>
            <a:r>
              <a:rPr lang="en-US" sz="4116" spc="20">
                <a:solidFill>
                  <a:srgbClr val="000000"/>
                </a:solidFill>
                <a:latin typeface="Cabin"/>
                <a:ea typeface="Cabin"/>
                <a:cs typeface="Cabin"/>
                <a:sym typeface="Cabin"/>
              </a:rPr>
              <a:t>ẾU CÓ CƠ HỘI MỞ RỘNG ĐỀ TÀI TRONG TƯƠNG LAI, EM NGHĨ CÓ THỂ PHÁT TRIỂN THEO CÁC HƯỚNG SAU:</a:t>
            </a:r>
          </a:p>
          <a:p>
            <a:pPr algn="l" marL="888672" indent="-444336" lvl="1">
              <a:lnSpc>
                <a:spcPts val="7450"/>
              </a:lnSpc>
              <a:buFont typeface="Arial"/>
              <a:buChar char="•"/>
            </a:pPr>
            <a:r>
              <a:rPr lang="en-US" sz="4116" spc="20">
                <a:solidFill>
                  <a:srgbClr val="000000"/>
                </a:solidFill>
                <a:latin typeface="Cabin"/>
                <a:ea typeface="Cabin"/>
                <a:cs typeface="Cabin"/>
                <a:sym typeface="Cabin"/>
              </a:rPr>
              <a:t>TÍCH HỢP HỆ THỐNG PHÂN TÍCH CHỦ ĐỀ VÀO KHẢO SÁT ONLINE ĐỂ NHÀ TRƯỜNG TỰ ĐỘNG NẮM BẮT PHẢN HỒI TỪ SINH VIÊN MỘT CÁCH NHANH CHÓNG VÀ TRỰC QUAN.</a:t>
            </a:r>
          </a:p>
          <a:p>
            <a:pPr algn="l" marL="888672" indent="-444336" lvl="1">
              <a:lnSpc>
                <a:spcPts val="7450"/>
              </a:lnSpc>
              <a:buFont typeface="Arial"/>
              <a:buChar char="•"/>
            </a:pPr>
            <a:r>
              <a:rPr lang="en-US" sz="4116" spc="20">
                <a:solidFill>
                  <a:srgbClr val="000000"/>
                </a:solidFill>
                <a:latin typeface="Cabin"/>
                <a:ea typeface="Cabin"/>
                <a:cs typeface="Cabin"/>
                <a:sym typeface="Cabin"/>
              </a:rPr>
              <a:t>THỬ NGHIỆM THÊM CÁC LOẠI DỮ LIỆU KHÁC NHƯ GÓP Ý TỪ CỰU SINH VIÊN, ĐÁNH GIÁ MÔN HỌC, HOẶC NHẬN XÉT VỀ GIẢNG VIÊN ĐỂ CÓ GÓC NHÌN TOÀN DIỆN HƠN.</a:t>
            </a:r>
          </a:p>
          <a:p>
            <a:pPr algn="l" marL="888672" indent="-444336" lvl="1">
              <a:lnSpc>
                <a:spcPts val="7450"/>
              </a:lnSpc>
              <a:buFont typeface="Arial"/>
              <a:buChar char="•"/>
            </a:pPr>
            <a:r>
              <a:rPr lang="en-US" sz="4116" spc="20">
                <a:solidFill>
                  <a:srgbClr val="000000"/>
                </a:solidFill>
                <a:latin typeface="Cabin"/>
                <a:ea typeface="Cabin"/>
                <a:cs typeface="Cabin"/>
                <a:sym typeface="Cabin"/>
              </a:rPr>
              <a:t>NÂNG CẤP MÔ HÌNH HIỆN TẠI, KẾT HỢP THÊM THUẬT TOÁN PHÂN CỤM (CLUSTERING) ĐỂ TĂNG ĐỘ CHÍNH XÁC TRONG PHÂN NHÓM CHỦ ĐỀ.</a:t>
            </a:r>
          </a:p>
          <a:p>
            <a:pPr algn="l">
              <a:lnSpc>
                <a:spcPts val="7450"/>
              </a:lnSpc>
            </a:pPr>
          </a:p>
        </p:txBody>
      </p:sp>
    </p:spTree>
  </p:cSld>
  <p:clrMapOvr>
    <a:masterClrMapping/>
  </p:clrMapOvr>
</p:sld>
</file>

<file path=ppt/slides/slide45.xml><?xml version="1.0" encoding="utf-8"?>
<p:sld xmlns:p="http://schemas.openxmlformats.org/presentationml/2006/main" xmlns:a="http://schemas.openxmlformats.org/drawingml/2006/main">
  <p:cSld>
    <p:bg>
      <p:bgPr>
        <a:solidFill>
          <a:srgbClr val="EFEEE7"/>
        </a:solidFill>
      </p:bgPr>
    </p:bg>
    <p:spTree>
      <p:nvGrpSpPr>
        <p:cNvPr id="1" name=""/>
        <p:cNvGrpSpPr/>
        <p:nvPr/>
      </p:nvGrpSpPr>
      <p:grpSpPr>
        <a:xfrm>
          <a:off x="0" y="0"/>
          <a:ext cx="0" cy="0"/>
          <a:chOff x="0" y="0"/>
          <a:chExt cx="0" cy="0"/>
        </a:xfrm>
      </p:grpSpPr>
      <p:sp>
        <p:nvSpPr>
          <p:cNvPr name="TextBox 2" id="2"/>
          <p:cNvSpPr txBox="true"/>
          <p:nvPr/>
        </p:nvSpPr>
        <p:spPr>
          <a:xfrm rot="0">
            <a:off x="5317406" y="4811191"/>
            <a:ext cx="7653189" cy="778918"/>
          </a:xfrm>
          <a:prstGeom prst="rect">
            <a:avLst/>
          </a:prstGeom>
        </p:spPr>
        <p:txBody>
          <a:bodyPr anchor="t" rtlCol="false" tIns="0" lIns="0" bIns="0" rIns="0">
            <a:spAutoFit/>
          </a:bodyPr>
          <a:lstStyle/>
          <a:p>
            <a:pPr algn="ctr">
              <a:lnSpc>
                <a:spcPts val="5916"/>
              </a:lnSpc>
              <a:spcBef>
                <a:spcPct val="0"/>
              </a:spcBef>
            </a:pPr>
            <a:r>
              <a:rPr lang="en-US" sz="5916" spc="29">
                <a:solidFill>
                  <a:srgbClr val="000000"/>
                </a:solidFill>
                <a:latin typeface="Playfair Display"/>
                <a:ea typeface="Playfair Display"/>
                <a:cs typeface="Playfair Display"/>
                <a:sym typeface="Playfair Display"/>
              </a:rPr>
              <a:t>TÀI LIỆU THAM KHẢO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DAGiJy1KQds</dc:identifier>
  <dcterms:modified xsi:type="dcterms:W3CDTF">2011-08-01T06:04:30Z</dcterms:modified>
  <cp:revision>1</cp:revision>
  <dc:title>Phân Tích Chủ Đề Nổi Trội Từ Bộ Dữ Liệu Phản Hồi Sinh Viên Tiếng Việt Tổng Hợp</dc:title>
</cp:coreProperties>
</file>